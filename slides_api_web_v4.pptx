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83" r:id="rId26"/>
    <p:sldId id="284" r:id="rId27"/>
    <p:sldId id="285" r:id="rId28"/>
    <p:sldId id="279" r:id="rId29"/>
    <p:sldId id="281" r:id="rId30"/>
    <p:sldId id="280" r:id="rId31"/>
  </p:sldIdLst>
  <p:sldSz cx="9144000" cy="5143500" type="screen16x9"/>
  <p:notesSz cx="5143500" cy="9144000"/>
  <p:embeddedFontLst>
    <p:embeddedFont>
      <p:font typeface="Arial Black" panose="020B0604020202020204" pitchFamily="34" charset="0"/>
      <p:regular r:id="rId33"/>
      <p:bold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HdDfBwlI2vY373uzYZe9rCGpB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38D3A2-6759-4C2F-B7EF-E4B06129EB26}">
  <a:tblStyle styleId="{B338D3A2-6759-4C2F-B7EF-E4B06129EB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5c87d4c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95c87d4c6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95c87d4c6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5c986e60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95c986e606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95c986e606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d517ccf5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cd517ccf59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cd517ccf59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d517ccf5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g3cd517ccf59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cd517ccf59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d5e56ee0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3cd5e56ee05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3cd5e56ee05_0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xmlsoap.org/soap/htt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APIs Web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r>
              <a:rPr lang="en-US" sz="28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vs.  </a:t>
            </a:r>
            <a:r>
              <a:rPr lang="en-US" sz="3600" b="1" i="0" u="none" strike="noStrike" cap="none">
                <a:solidFill>
                  <a:srgbClr val="E535AB"/>
                </a:solidFill>
                <a:latin typeface="Calibri"/>
                <a:ea typeface="Calibri"/>
                <a:cs typeface="Calibri"/>
                <a:sym typeface="Calibri"/>
              </a:rPr>
              <a:t>GraphQL</a:t>
            </a:r>
            <a:r>
              <a:rPr lang="en-US" sz="28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vs.  </a:t>
            </a:r>
            <a:r>
              <a:rPr lang="en-US" sz="36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SOAP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Programmation comparée — 2026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0" y="9144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49440" y="9144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55280" y="914400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Qu'est-ce qu'une API 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Application Programming Interface — une interface pour échanger de la donnée entre programmes.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1691640"/>
            <a:ext cx="3657600" cy="30175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8288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1417320" y="1828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À quoi ça sert 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241401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914400" y="24140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234440" y="233172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Interface pour </a:t>
            </a:r>
            <a:r>
              <a:rPr lang="en-US" sz="1050">
                <a:solidFill>
                  <a:srgbClr val="A0AEC0"/>
                </a:solidFill>
              </a:rPr>
              <a:t>un </a:t>
            </a: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client pour récupérer et manipuler de la donnée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14400" y="296265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914400" y="29626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34440" y="288036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Séparation logique métier / affichage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14400" y="351129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914400" y="35112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234440" y="342900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Plusieurs clients différents  consomment </a:t>
            </a:r>
            <a:r>
              <a:rPr lang="en-US" sz="1050">
                <a:solidFill>
                  <a:srgbClr val="A0AEC0"/>
                </a:solidFill>
              </a:rPr>
              <a:t>un </a:t>
            </a: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même service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4400" y="405993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14400" y="40599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34440" y="397764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Contrat : quelles opérations </a:t>
            </a:r>
            <a:r>
              <a:rPr lang="en-US" sz="1050">
                <a:solidFill>
                  <a:srgbClr val="A0AEC0"/>
                </a:solidFill>
              </a:rPr>
              <a:t>? </a:t>
            </a: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quels formats ?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0" y="1691640"/>
            <a:ext cx="3840600" cy="3017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760" y="18288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5440680" y="18288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Architecture type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120615" y="2423158"/>
            <a:ext cx="1371600" cy="64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120640" y="2423095"/>
            <a:ext cx="1371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(Front-end)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040880" y="2331720"/>
            <a:ext cx="1371600" cy="109728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040880" y="23317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(Serveur)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040880" y="28803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B4C4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B4C4"/>
                </a:solidFill>
                <a:latin typeface="Arial"/>
                <a:ea typeface="Arial"/>
                <a:cs typeface="Arial"/>
                <a:sym typeface="Arial"/>
              </a:rPr>
              <a:t>Logique métier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B4C4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B4C4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B4C4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B4C4"/>
                </a:solidFill>
                <a:latin typeface="Arial"/>
                <a:ea typeface="Arial"/>
                <a:cs typeface="Arial"/>
                <a:sym typeface="Arial"/>
              </a:rPr>
              <a:t>Autorisation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040880" y="3931920"/>
            <a:ext cx="1371600" cy="54864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040880" y="39319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Base de données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120640" y="3163830"/>
            <a:ext cx="10059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120603" y="316383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Mobile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120640" y="3977640"/>
            <a:ext cx="1005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120640" y="397764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0AEC0"/>
                </a:solidFill>
              </a:rPr>
              <a:t>APIs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2"/>
          <p:cNvCxnSpPr/>
          <p:nvPr/>
        </p:nvCxnSpPr>
        <p:spPr>
          <a:xfrm rot="10800000" flipH="1">
            <a:off x="6302625" y="3260400"/>
            <a:ext cx="608100" cy="117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61;p2"/>
          <p:cNvCxnSpPr/>
          <p:nvPr/>
        </p:nvCxnSpPr>
        <p:spPr>
          <a:xfrm>
            <a:off x="6610700" y="2741600"/>
            <a:ext cx="311700" cy="3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62;p2"/>
          <p:cNvCxnSpPr/>
          <p:nvPr/>
        </p:nvCxnSpPr>
        <p:spPr>
          <a:xfrm flipH="1">
            <a:off x="6185550" y="3516925"/>
            <a:ext cx="1238100" cy="428400"/>
          </a:xfrm>
          <a:prstGeom prst="straightConnector1">
            <a:avLst/>
          </a:prstGeom>
          <a:noFill/>
          <a:ln w="28575" cap="flat" cmpd="sng">
            <a:solidFill>
              <a:srgbClr val="E9456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3;p2"/>
          <p:cNvCxnSpPr/>
          <p:nvPr/>
        </p:nvCxnSpPr>
        <p:spPr>
          <a:xfrm>
            <a:off x="7775350" y="3503463"/>
            <a:ext cx="0" cy="354000"/>
          </a:xfrm>
          <a:prstGeom prst="straightConnector1">
            <a:avLst/>
          </a:prstGeom>
          <a:noFill/>
          <a:ln w="28575" cap="flat" cmpd="sng">
            <a:solidFill>
              <a:srgbClr val="E9456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Trois approches, trois époques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même problème — exposer des données via le réseau — résolu de trois façons.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31520" y="1645920"/>
            <a:ext cx="768096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31520" y="164592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960120" y="1828800"/>
            <a:ext cx="5943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60120" y="18288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1998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7360" y="18105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2377440" y="1691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SOAP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377440" y="20299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Simple Object Access Protocol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54880" y="169164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Protocole XML avec contrat formel (WSDL). Intégration entre systèmes hétérogènes en entreprise (Java ↔ .NET ↔ mainframes).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31520" y="2697480"/>
            <a:ext cx="64008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60120" y="2880360"/>
            <a:ext cx="5943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60120" y="288036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7360" y="286207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2377440" y="27432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REST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377440" y="30815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REpresentational State Transfer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754880" y="27432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Style architectural basé sur HTTP. Ressources avec URIs, verbes HTTP sémantiques, réponses cacheables. Thèse de Roy Fielding.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1520" y="3749040"/>
            <a:ext cx="768096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31520" y="3749040"/>
            <a:ext cx="64008" cy="86868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60120" y="3931920"/>
            <a:ext cx="594360" cy="4572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960120" y="3931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2012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7360" y="39136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2377440" y="37947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E535AB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377440" y="41330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Graph Query Language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754880" y="379476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Langage de requête. Créé par Facebook pour alimenter le News Feed mobile en un seul appel.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SOAP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Simple Object Access Protocol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concept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 protocole d'échange de messages XML, indépendant du transport et du langage.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731520" y="155448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17373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1645920" y="160020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Tout passe par </a:t>
            </a:r>
            <a:r>
              <a:rPr lang="en-US" sz="1400" b="1" i="0" u="none" strike="noStrike" cap="none" dirty="0" err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lang="en-US" sz="1400" b="1" i="0" u="none" strike="noStrike" cap="none" dirty="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enveloppe</a:t>
            </a:r>
            <a:r>
              <a:rPr lang="en-US" sz="1400" b="1" i="0" u="none" strike="noStrike" cap="none" dirty="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 XML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645920" y="190195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message est une enveloppe standardisée : Header (sécurité, routing) + Body (opération + paramètres). Le format est identique quel que soit le transport (HTTP, SMTP, JMS).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31520" y="265176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" y="2834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1645920" y="269748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Contrat formel : le WSDL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645920" y="29992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service est décrit dans un fichier WSDL : opérations disponibles, types de données (XML Schema), protocole de transport. Les clients sont générés automatiquement à partir du contrat.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31520" y="374904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840" y="3931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1645920" y="379476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Sécurité au niveau du message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645920" y="409651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WS-Security : signature et chiffrement dans le message lui-même (pas juste TLS). Le message reste protégé même à travers des intermédiaires. Standard dans la banque et la santé.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L'enveloppe XML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31520" y="1097280"/>
            <a:ext cx="3840480" cy="3474720"/>
          </a:xfrm>
          <a:prstGeom prst="rect">
            <a:avLst/>
          </a:prstGeom>
          <a:solidFill>
            <a:srgbClr val="2D2D44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731520" y="1143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Enveloppe SOAP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097280" y="1645920"/>
            <a:ext cx="3108960" cy="914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188720" y="16642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Header (optionnel)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88720" y="1938528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WS-Security, routing, transactions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97280" y="2697480"/>
            <a:ext cx="3108960" cy="155448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188720" y="27157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88720" y="2990088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Opération + paramètres typés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463040" y="3703320"/>
            <a:ext cx="2377440" cy="411480"/>
          </a:xfrm>
          <a:prstGeom prst="rect">
            <a:avLst/>
          </a:prstGeom>
          <a:solidFill>
            <a:srgbClr val="4A20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463040" y="3703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Fault (erreurs structurées)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Exemple : GetBook(1)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846320" y="1463040"/>
            <a:ext cx="3840480" cy="3108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5029200" y="1554480"/>
            <a:ext cx="34747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&lt;?xml version="1.0"?&gt;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&lt;soap:Envelope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xmlns:soap="...soap/envelope"&gt;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&lt;soap:Header&gt;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&lt;wsse:Security&gt;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&lt;!-- token, signature --&gt;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&lt;/wsse:Security&gt;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&lt;/soap:Header&gt;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&lt;soap:Body&gt;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&lt;GetBook xmlns="..."&gt;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&lt;id&gt;1&lt;/id&gt;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&lt;/GetBook&gt;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&lt;/soap:Body&gt;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&lt;/soap:Envelope&gt;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5c87d4c66_0_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95c87d4c66_0_0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WSDL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95c87d4c66_0_0"/>
          <p:cNvSpPr/>
          <p:nvPr/>
        </p:nvSpPr>
        <p:spPr>
          <a:xfrm>
            <a:off x="731520" y="100584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Web Services Description Language — le contrat machine-readable du service.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95c87d4c66_0_0"/>
          <p:cNvSpPr/>
          <p:nvPr/>
        </p:nvSpPr>
        <p:spPr>
          <a:xfrm>
            <a:off x="73152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95c87d4c66_0_0"/>
          <p:cNvSpPr/>
          <p:nvPr/>
        </p:nvSpPr>
        <p:spPr>
          <a:xfrm>
            <a:off x="731520" y="1554480"/>
            <a:ext cx="1828800" cy="549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95c87d4c66_0_0"/>
          <p:cNvSpPr/>
          <p:nvPr/>
        </p:nvSpPr>
        <p:spPr>
          <a:xfrm>
            <a:off x="731520" y="16916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Arial Black"/>
              <a:buNone/>
            </a:pPr>
            <a:r>
              <a:rPr lang="en-US" sz="1400" b="0" i="0" u="none" strike="noStrike" cap="none">
                <a:solidFill>
                  <a:srgbClr val="C2410C"/>
                </a:solidFill>
                <a:latin typeface="Arial Black"/>
                <a:ea typeface="Arial Black"/>
                <a:cs typeface="Arial Black"/>
                <a:sym typeface="Arial Black"/>
              </a:rPr>
              <a:t>Types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95c87d4c66_0_0"/>
          <p:cNvSpPr/>
          <p:nvPr/>
        </p:nvSpPr>
        <p:spPr>
          <a:xfrm>
            <a:off x="82296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Structures de données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(XML Schema).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Ex: Book { id, title, year 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95c87d4c66_0_0"/>
          <p:cNvSpPr/>
          <p:nvPr/>
        </p:nvSpPr>
        <p:spPr>
          <a:xfrm>
            <a:off x="274320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95c87d4c66_0_0"/>
          <p:cNvSpPr/>
          <p:nvPr/>
        </p:nvSpPr>
        <p:spPr>
          <a:xfrm>
            <a:off x="2743200" y="1554480"/>
            <a:ext cx="1828800" cy="54900"/>
          </a:xfrm>
          <a:prstGeom prst="rect">
            <a:avLst/>
          </a:prstGeom>
          <a:solidFill>
            <a:srgbClr val="D474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95c87d4c66_0_0"/>
          <p:cNvSpPr/>
          <p:nvPr/>
        </p:nvSpPr>
        <p:spPr>
          <a:xfrm>
            <a:off x="2743200" y="16916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740C"/>
              </a:buClr>
              <a:buSzPts val="1400"/>
              <a:buFont typeface="Arial Black"/>
              <a:buNone/>
            </a:pPr>
            <a:r>
              <a:rPr lang="en-US" sz="1400" b="0" i="0" u="none" strike="noStrike" cap="none">
                <a:solidFill>
                  <a:srgbClr val="D4740C"/>
                </a:solidFill>
                <a:latin typeface="Arial Black"/>
                <a:ea typeface="Arial Black"/>
                <a:cs typeface="Arial Black"/>
                <a:sym typeface="Arial Black"/>
              </a:rPr>
              <a:t>Messages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95c87d4c66_0_0"/>
          <p:cNvSpPr/>
          <p:nvPr/>
        </p:nvSpPr>
        <p:spPr>
          <a:xfrm>
            <a:off x="283464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Entrées/sorties 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opération.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GetBookRequest(id: int)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95c87d4c66_0_0"/>
          <p:cNvSpPr/>
          <p:nvPr/>
        </p:nvSpPr>
        <p:spPr>
          <a:xfrm>
            <a:off x="475488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95c87d4c66_0_0"/>
          <p:cNvSpPr/>
          <p:nvPr/>
        </p:nvSpPr>
        <p:spPr>
          <a:xfrm>
            <a:off x="4754880" y="1554480"/>
            <a:ext cx="1828800" cy="54900"/>
          </a:xfrm>
          <a:prstGeom prst="rect">
            <a:avLst/>
          </a:prstGeom>
          <a:solidFill>
            <a:srgbClr val="E5A2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95c87d4c66_0_0"/>
          <p:cNvSpPr/>
          <p:nvPr/>
        </p:nvSpPr>
        <p:spPr>
          <a:xfrm>
            <a:off x="4754880" y="16916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A20C"/>
              </a:buClr>
              <a:buSzPts val="1400"/>
              <a:buFont typeface="Arial Black"/>
              <a:buNone/>
            </a:pPr>
            <a:r>
              <a:rPr lang="en-US" sz="1400" b="0" i="0" u="none" strike="noStrike" cap="none">
                <a:solidFill>
                  <a:srgbClr val="E5A20C"/>
                </a:solidFill>
                <a:latin typeface="Arial Black"/>
                <a:ea typeface="Arial Black"/>
                <a:cs typeface="Arial Black"/>
                <a:sym typeface="Arial Black"/>
              </a:rPr>
              <a:t>Port Types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95c87d4c66_0_0"/>
          <p:cNvSpPr/>
          <p:nvPr/>
        </p:nvSpPr>
        <p:spPr>
          <a:xfrm>
            <a:off x="484632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Interface abstraite 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les opérations dispo.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≈ interface Java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95c87d4c66_0_0"/>
          <p:cNvSpPr/>
          <p:nvPr/>
        </p:nvSpPr>
        <p:spPr>
          <a:xfrm>
            <a:off x="676656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95c87d4c66_0_0"/>
          <p:cNvSpPr/>
          <p:nvPr/>
        </p:nvSpPr>
        <p:spPr>
          <a:xfrm>
            <a:off x="6766560" y="1554480"/>
            <a:ext cx="1828800" cy="54900"/>
          </a:xfrm>
          <a:prstGeom prst="rect">
            <a:avLst/>
          </a:prstGeom>
          <a:solidFill>
            <a:srgbClr val="F5C8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95c87d4c66_0_0"/>
          <p:cNvSpPr/>
          <p:nvPr/>
        </p:nvSpPr>
        <p:spPr>
          <a:xfrm>
            <a:off x="6766550" y="1673400"/>
            <a:ext cx="1874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C80C"/>
              </a:buClr>
              <a:buSzPts val="1400"/>
              <a:buFont typeface="Arial Black"/>
              <a:buNone/>
            </a:pPr>
            <a:r>
              <a:rPr lang="en-US" sz="1400" b="0" i="0" u="none" strike="noStrike" cap="none">
                <a:solidFill>
                  <a:srgbClr val="F5C80C"/>
                </a:solidFill>
                <a:latin typeface="Arial Black"/>
                <a:ea typeface="Arial Black"/>
                <a:cs typeface="Arial Black"/>
                <a:sym typeface="Arial Black"/>
              </a:rPr>
              <a:t>Bindings &amp; Service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95c87d4c66_0_0"/>
          <p:cNvSpPr/>
          <p:nvPr/>
        </p:nvSpPr>
        <p:spPr>
          <a:xfrm>
            <a:off x="685800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Protocole concret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(SOAP/HTTP) + encodage.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Lie l'abstrait au transport.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95c87d4c66_0_0"/>
          <p:cNvSpPr/>
          <p:nvPr/>
        </p:nvSpPr>
        <p:spPr>
          <a:xfrm>
            <a:off x="731520" y="3657600"/>
            <a:ext cx="7680900" cy="1097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95c87d4c66_0_0"/>
          <p:cNvSpPr/>
          <p:nvPr/>
        </p:nvSpPr>
        <p:spPr>
          <a:xfrm>
            <a:off x="731520" y="3657600"/>
            <a:ext cx="63900" cy="109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95c87d4c66_0_0"/>
          <p:cNvSpPr/>
          <p:nvPr/>
        </p:nvSpPr>
        <p:spPr>
          <a:xfrm>
            <a:off x="1005840" y="370332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Contract-first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95c87d4c66_0_0"/>
          <p:cNvSpPr/>
          <p:nvPr/>
        </p:nvSpPr>
        <p:spPr>
          <a:xfrm>
            <a:off x="1005840" y="4023360"/>
            <a:ext cx="7223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contrat (WSDL) existe avant le code. Un outil génère automatiquement les classes client dans n'importe quel langage. Le développeur appelle des méthodes typée</a:t>
            </a:r>
            <a:r>
              <a:rPr lang="en-US" sz="1150">
                <a:solidFill>
                  <a:srgbClr val="A0AEC0"/>
                </a:solidFill>
              </a:rPr>
              <a:t>s</a:t>
            </a: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 Deux organisations intègrent leurs systèmes juste en échangeant un WSDL.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WSDL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63476" y="1391713"/>
            <a:ext cx="44877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46350" y="1391718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Types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63475" y="1757488"/>
            <a:ext cx="44877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65975" y="1757488"/>
            <a:ext cx="4550700" cy="2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&lt;types&gt;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&lt;xsd:complexType name="Author"&gt;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&lt;xsd:sequence&gt;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name="Id"   type="xsd:int"/&gt;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name="Name" type="xsd:string"/&gt;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name="Bio"  type="xsd:string" 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name="Nationality" type="xsd:string"/&gt;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&lt;/xsd:sequence&gt;	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&lt;/xsd:complexType&gt;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&lt;/types&gt;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42150" y="1391713"/>
            <a:ext cx="37104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325025" y="1391705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Messages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42150" y="1757488"/>
            <a:ext cx="37104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244650" y="1757488"/>
            <a:ext cx="3710400" cy="2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&lt;message name="GetAuthorRequest"&gt;  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&lt;part name="AuthorId" type="xsd:int"/&gt;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&lt;/message&gt;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&lt;message name="GetAuthorResponse"&gt;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&lt;part name="Author"   type="tns:Author"/&gt;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&lt;/message&gt;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5c986e606_0_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95c986e606_0_1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WSDL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95c986e606_0_1"/>
          <p:cNvSpPr/>
          <p:nvPr/>
        </p:nvSpPr>
        <p:spPr>
          <a:xfrm>
            <a:off x="368800" y="1391733"/>
            <a:ext cx="36081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95c986e606_0_1"/>
          <p:cNvSpPr/>
          <p:nvPr/>
        </p:nvSpPr>
        <p:spPr>
          <a:xfrm>
            <a:off x="546640" y="1391725"/>
            <a:ext cx="3378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95c986e606_0_1"/>
          <p:cNvSpPr/>
          <p:nvPr/>
        </p:nvSpPr>
        <p:spPr>
          <a:xfrm>
            <a:off x="368800" y="1757499"/>
            <a:ext cx="3608100" cy="255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95c986e606_0_1"/>
          <p:cNvSpPr/>
          <p:nvPr/>
        </p:nvSpPr>
        <p:spPr>
          <a:xfrm>
            <a:off x="468478" y="1757506"/>
            <a:ext cx="3517200" cy="2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&lt;portType name="BookCatalogPortType"&gt;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&lt;operation name="GetAuthor"&gt;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&lt;input message="tns:GetAuthorRequest"/&gt;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&lt;output message="tns:GetAuthorResponse"/&gt;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&lt;/operation&gt;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&lt;/portType&gt;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g395c986e606_0_1"/>
          <p:cNvSpPr/>
          <p:nvPr/>
        </p:nvSpPr>
        <p:spPr>
          <a:xfrm>
            <a:off x="4170125" y="1391733"/>
            <a:ext cx="48345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95c986e606_0_1"/>
          <p:cNvSpPr/>
          <p:nvPr/>
        </p:nvSpPr>
        <p:spPr>
          <a:xfrm>
            <a:off x="4408416" y="1391725"/>
            <a:ext cx="452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Bindings &amp; 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95c986e606_0_1"/>
          <p:cNvSpPr/>
          <p:nvPr/>
        </p:nvSpPr>
        <p:spPr>
          <a:xfrm>
            <a:off x="4170125" y="1757499"/>
            <a:ext cx="4834500" cy="255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95c986e606_0_1"/>
          <p:cNvSpPr/>
          <p:nvPr/>
        </p:nvSpPr>
        <p:spPr>
          <a:xfrm>
            <a:off x="4164275" y="1757500"/>
            <a:ext cx="4846200" cy="2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&lt;binding name="BookCatalogBinding" type="tns:BookCatalogPortType"&gt;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&lt;soap:binding style="document"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transport="</a:t>
            </a:r>
            <a:r>
              <a:rPr lang="en-US" sz="1050">
                <a:solidFill>
                  <a:schemeClr val="lt1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http://schemas.xmlsoap.org/soap/http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&lt;operation name="GetAuthor"&gt;      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&lt;soap:operation soapAction="GetAuthor"/&gt;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&lt;/operation&gt;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&lt;/binding&gt;		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&lt;service name="BookCatalogService"&gt;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&lt;port name="BookCatalogPort" binding="tns:BookCatalogBinding"&gt;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&lt;soap:address location="http://localhost:3000/soap"/&gt;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&lt;/port&gt;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&lt;/service&gt;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Bilan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3152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Quand l'utiliser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4356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1051560" y="1417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Banque, santé, défense — WS-Security est un standard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819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1051560" y="18013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Transactions distribuées entre services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22037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1051560" y="21854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Intégration B2B formelle (échange de WSDL)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25877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/>
          <p:nvPr/>
        </p:nvSpPr>
        <p:spPr>
          <a:xfrm>
            <a:off x="1051560" y="256946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Écosystème entreprise (Java EE, .NET, SAP)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Limites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14356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5166360" y="1417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Verbosité XML — enveloppe &gt; donnée utile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1819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/>
          <p:nvPr/>
        </p:nvSpPr>
        <p:spPr>
          <a:xfrm>
            <a:off x="5166360" y="18013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Complexité de la stack WS-*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22037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5166360" y="21854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 seul endpoint POST → pas de cache HTTP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25877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5166360" y="256946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Mal adapté au web moderne et au mobile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Début 2000, SOAP est omniprésent. Mais le Web évolue, et un style plus simple émerge...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REST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REpresentational State Transfer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— Les principes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31520" y="10058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A0AEC0"/>
                </a:solidFill>
              </a:rPr>
              <a:t>U</a:t>
            </a:r>
            <a:r>
              <a:rPr lang="en-US" sz="13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n ensemble de principes d'architecture pour des APIs web qui s'intègrent naturellement à HTTP.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731520" y="173736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1892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1645920" y="175564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Découpe par ressources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645920" y="20574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entité (users, books, posts) a sa propre URL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731520" y="274320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0" name="Google Shape;26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" y="28986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1645920" y="276148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S'appuyer sur les normes HTTP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645920" y="30632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Verbes (GET, POST, PUT, DELETE) et codes de retour (2XX, 4XX, 5XX) ont une sémantique standard. Pas besoin de réinventer.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731520" y="374904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5" name="Google Shape;265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840" y="3904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1645920" y="376732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Stateless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645920" y="406908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Pas de mémoire des anciennes requêtes. Chaque requête contient tout son contexte (token, paramètres). Permet le scaling horizontal.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— Ressources, verbes, codes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Nomenclature des URLs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7200" y="1371600"/>
            <a:ext cx="4023360" cy="23774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640080" y="146304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Collection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authors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/api/v1/books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Ressource unique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authors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stephen-king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/api/v1/books/42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Sous-ressources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/api/v1/books/42/reviews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Verbes HTTP = CRUD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4754880" y="1463040"/>
            <a:ext cx="10972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754880" y="1463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943600" y="14630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Restitution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754880" y="2011680"/>
            <a:ext cx="10972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4754880" y="20116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943600" y="20116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754880" y="2560320"/>
            <a:ext cx="109728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754880" y="25603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PUT/PATCH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943600" y="25603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754880" y="3108960"/>
            <a:ext cx="109728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4754880" y="31089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943600" y="3108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Suppression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Codes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4343400"/>
            <a:ext cx="26060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57200" y="4343400"/>
            <a:ext cx="5029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57200" y="434340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2XX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0058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Succès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005840" y="46177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200 OK · 201 Created · 204 No Content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200400" y="4343400"/>
            <a:ext cx="26060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3200400" y="4343400"/>
            <a:ext cx="50292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200400" y="434340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4XX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7490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Erreur client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749040" y="46177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400 Bad Request · 401 Unauthorized · 404 Not Found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943600" y="4343400"/>
            <a:ext cx="26060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5943600" y="4343400"/>
            <a:ext cx="50292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943600" y="434340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5XX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4922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Erreur serveur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492240" y="46177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500 Internal Error · 503 Service Unavailable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HATEOAS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HATEOAS — le niveau ultime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57200" y="1371600"/>
            <a:ext cx="4023360" cy="2011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640080" y="1417320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/books/42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"id": 42,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"title": "Foundation",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"_links": {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"self":    "/books/42",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"author":  "/authors/1",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"reviews": "/books/42/reviews"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57200" y="34747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Les réponses contiennent des liens vers les actions possibles.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Très peu utilisé en pratique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488397" y="914400"/>
            <a:ext cx="2585100" cy="640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488395" y="91439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488395" y="91439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311355" y="91439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HATEOAS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488397" y="1737359"/>
            <a:ext cx="2585100" cy="64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488395" y="173735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5488395" y="173735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311355" y="173735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Verbes HTTP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488397" y="2560317"/>
            <a:ext cx="2585100" cy="6402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5488395" y="256031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488395" y="256031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311355" y="256031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Ressources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5488397" y="3383276"/>
            <a:ext cx="2585100" cy="6402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488395" y="338327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488395" y="338327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311355" y="338327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RPC sur HTTP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665425" y="4088683"/>
            <a:ext cx="4023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550" b="1">
                <a:solidFill>
                  <a:srgbClr val="A0AEC0"/>
                </a:solidFill>
              </a:rPr>
              <a:t>Richardson Maturity Model</a:t>
            </a:r>
            <a:endParaRPr sz="155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d517ccf59_0_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cd517ccf59_0_5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 L</a:t>
            </a: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imites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cd517ccf59_0_5"/>
          <p:cNvSpPr/>
          <p:nvPr/>
        </p:nvSpPr>
        <p:spPr>
          <a:xfrm>
            <a:off x="2606105" y="1063040"/>
            <a:ext cx="3931800" cy="320100"/>
          </a:xfrm>
          <a:prstGeom prst="rect">
            <a:avLst/>
          </a:prstGeom>
          <a:solidFill>
            <a:srgbClr val="3B15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cd517ccf59_0_5"/>
          <p:cNvSpPr/>
          <p:nvPr/>
        </p:nvSpPr>
        <p:spPr>
          <a:xfrm>
            <a:off x="2788985" y="106304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Le problème : over/under-fetching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cd517ccf59_0_5"/>
          <p:cNvSpPr/>
          <p:nvPr/>
        </p:nvSpPr>
        <p:spPr>
          <a:xfrm>
            <a:off x="2606105" y="1428800"/>
            <a:ext cx="393180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cd517ccf59_0_5"/>
          <p:cNvSpPr/>
          <p:nvPr/>
        </p:nvSpPr>
        <p:spPr>
          <a:xfrm>
            <a:off x="2788985" y="1474520"/>
            <a:ext cx="35661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Pour 1 page "fiche livre" 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/books/42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→ reçoit isbn, pages... (inutile)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/authors/1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→ 2e requête pour l'auteur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/books/42/reviews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→ 3e requête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3 requêtes, données en trop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cd517ccf59_0_5"/>
          <p:cNvSpPr/>
          <p:nvPr/>
        </p:nvSpPr>
        <p:spPr>
          <a:xfrm>
            <a:off x="2606105" y="3349040"/>
            <a:ext cx="3931800" cy="731400"/>
          </a:xfrm>
          <a:prstGeom prst="rect">
            <a:avLst/>
          </a:prstGeom>
          <a:solidFill>
            <a:srgbClr val="3B15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cd517ccf59_0_5"/>
          <p:cNvSpPr/>
          <p:nvPr/>
        </p:nvSpPr>
        <p:spPr>
          <a:xfrm>
            <a:off x="2788985" y="339476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Under-fetching</a:t>
            </a: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: N requêtes pour 1 vue</a:t>
            </a:r>
            <a:b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Over-fetching</a:t>
            </a: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: chaque réponse a des champs inutiles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cd517ccf59_0_5"/>
          <p:cNvSpPr/>
          <p:nvPr/>
        </p:nvSpPr>
        <p:spPr>
          <a:xfrm>
            <a:off x="457200" y="44348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200"/>
              <a:buFont typeface="Arial"/>
              <a:buNone/>
            </a:pPr>
            <a:r>
              <a:rPr lang="en-US" sz="1200" b="1" i="1" u="none" strike="noStrike" cap="none">
                <a:solidFill>
                  <a:srgbClr val="E535AB"/>
                </a:solidFill>
                <a:latin typeface="Arial"/>
                <a:ea typeface="Arial"/>
                <a:cs typeface="Arial"/>
                <a:sym typeface="Arial"/>
              </a:rPr>
              <a:t>C'est ce problème qui a poussé Facebook à créer GraphQL en 2012.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" name="Google Shape;36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olidFill>
                  <a:srgbClr val="E535AB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 Query Language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 La </a:t>
            </a:r>
            <a:r>
              <a:rPr lang="en-US" sz="2800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problématique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79265" y="1803455"/>
            <a:ext cx="37491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579265" y="1803455"/>
            <a:ext cx="37491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6" name="Google Shape;37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145" y="194061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/>
          <p:nvPr/>
        </p:nvSpPr>
        <p:spPr>
          <a:xfrm>
            <a:off x="1219345" y="1940615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 problème résolu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762145" y="2352095"/>
            <a:ext cx="33834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Facebook 2012 : le News Feed charge des utilisateurs, posts, commentaires, likes, photos</a:t>
            </a:r>
            <a:endParaRPr sz="1000">
              <a:solidFill>
                <a:srgbClr val="A0AEC0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endParaRPr sz="1000">
              <a:solidFill>
                <a:srgbClr val="A0AEC0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Avec GraphQL : 1 requête, 1 réponse</a:t>
            </a:r>
            <a:r>
              <a:rPr lang="en-US" sz="1000">
                <a:solidFill>
                  <a:srgbClr val="A0AEC0"/>
                </a:solidFill>
              </a:rPr>
              <a:t>. L</a:t>
            </a: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 serveur agrège les ressources et renvoie une réponse structurée.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client mobile ne gère plus la complexité.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640" y="1472438"/>
            <a:ext cx="4358584" cy="294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67CB759-4933-76DC-1BC8-475EBDDF2BD0}"/>
              </a:ext>
            </a:extLst>
          </p:cNvPr>
          <p:cNvSpPr txBox="1"/>
          <p:nvPr/>
        </p:nvSpPr>
        <p:spPr>
          <a:xfrm>
            <a:off x="4665640" y="4420465"/>
            <a:ext cx="4572000" cy="28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fr-FR" sz="1100" dirty="0">
                <a:solidFill>
                  <a:srgbClr val="ABB2BF"/>
                </a:solidFill>
                <a:latin typeface="Menlo" panose="020B0609030804020204" pitchFamily="49" charset="0"/>
              </a:rPr>
              <a:t>Le News </a:t>
            </a:r>
            <a:r>
              <a:rPr lang="fr-FR" sz="1100" dirty="0" err="1">
                <a:solidFill>
                  <a:srgbClr val="ABB2BF"/>
                </a:solidFill>
                <a:latin typeface="Menlo" panose="020B0609030804020204" pitchFamily="49" charset="0"/>
              </a:rPr>
              <a:t>Feed</a:t>
            </a:r>
            <a:r>
              <a:rPr lang="fr-FR" sz="1100" dirty="0">
                <a:solidFill>
                  <a:srgbClr val="ABB2BF"/>
                </a:solidFill>
                <a:latin typeface="Menlo" panose="020B0609030804020204" pitchFamily="49" charset="0"/>
              </a:rPr>
              <a:t> de Facebook en 2012</a:t>
            </a:r>
            <a:endParaRPr lang="fr-FR" sz="1100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d517ccf59_0_2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cd517ccf59_0_23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</a:t>
            </a: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 concept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cd517ccf59_0_23"/>
          <p:cNvSpPr/>
          <p:nvPr/>
        </p:nvSpPr>
        <p:spPr>
          <a:xfrm>
            <a:off x="731520" y="1005840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langage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requête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pour la restitution des données. Le client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envoie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requête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qui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définit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exactement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les données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retournées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cd517ccf59_0_23"/>
          <p:cNvSpPr/>
          <p:nvPr/>
        </p:nvSpPr>
        <p:spPr>
          <a:xfrm>
            <a:off x="731520" y="1691640"/>
            <a:ext cx="7680900" cy="54870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3cd517ccf59_0_23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Logique différente de REST : on ne découpe pas par ressources, on définit un modèle de données et des resolvers qui savent aller chercher chaque champ.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cd517ccf59_0_23"/>
          <p:cNvSpPr/>
          <p:nvPr/>
        </p:nvSpPr>
        <p:spPr>
          <a:xfrm>
            <a:off x="1549175" y="2353850"/>
            <a:ext cx="6045600" cy="25575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cd517ccf59_0_23"/>
          <p:cNvSpPr/>
          <p:nvPr/>
        </p:nvSpPr>
        <p:spPr>
          <a:xfrm>
            <a:off x="1549170" y="2428368"/>
            <a:ext cx="36576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cd517ccf59_0_23"/>
          <p:cNvSpPr/>
          <p:nvPr/>
        </p:nvSpPr>
        <p:spPr>
          <a:xfrm>
            <a:off x="1627787" y="2545853"/>
            <a:ext cx="2591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Comment ça marche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cd517ccf59_0_23"/>
          <p:cNvSpPr/>
          <p:nvPr/>
        </p:nvSpPr>
        <p:spPr>
          <a:xfrm>
            <a:off x="1627775" y="2928550"/>
            <a:ext cx="5757900" cy="20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Définition d'un modèle de données typé (schéma)</a:t>
            </a:r>
            <a:endParaRPr sz="1200" b="0" i="0" u="none" strike="noStrike" cap="none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0AEC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AutoNum type="arabicPeriod"/>
            </a:pPr>
            <a:r>
              <a:rPr lang="en-US" sz="1200">
                <a:solidFill>
                  <a:srgbClr val="A0AEC0"/>
                </a:solidFill>
              </a:rPr>
              <a:t>Pour chaque type, un Resolver définit comment  récupérer la donnée : SQL, API externe, cache…</a:t>
            </a:r>
            <a:endParaRPr sz="1200">
              <a:solidFill>
                <a:srgbClr val="A0AEC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0AEC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AutoNum type="arabicPeriod"/>
            </a:pPr>
            <a:r>
              <a:rPr lang="en-US" sz="1200">
                <a:solidFill>
                  <a:srgbClr val="A0AEC0"/>
                </a:solidFill>
              </a:rPr>
              <a:t>Un seul endpoint (POST /graphql), le client précise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A0AEC0"/>
                </a:solidFill>
              </a:rPr>
              <a:t>dans sa requête le format et le type de donnée,     le serveur la résout champ par champ</a:t>
            </a:r>
            <a:endParaRPr sz="1200">
              <a:solidFill>
                <a:srgbClr val="A0AEC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0AEC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AutoNum type="arabicPeriod"/>
            </a:pPr>
            <a:r>
              <a:rPr lang="en-US" sz="1200">
                <a:solidFill>
                  <a:srgbClr val="A0AEC0"/>
                </a:solidFill>
              </a:rPr>
              <a:t>Introspection : le client peut interroger le schéma</a:t>
            </a:r>
            <a:endParaRPr sz="1200">
              <a:solidFill>
                <a:srgbClr val="A0AEC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endParaRPr sz="1200">
              <a:solidFill>
                <a:srgbClr val="A0AEC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— Schéma et resolvers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E535AB"/>
                </a:solidFill>
                <a:latin typeface="Consolas"/>
                <a:ea typeface="Consolas"/>
                <a:cs typeface="Consolas"/>
                <a:sym typeface="Consolas"/>
              </a:rPr>
              <a:t>Le schéma (SDL)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57200" y="1371599"/>
            <a:ext cx="3931920" cy="2641181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640080" y="1463040"/>
            <a:ext cx="3566160" cy="244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 Book {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id: ID!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title: String!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year: Int!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author: Author!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reviews: [Review!]!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 Query {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book(id: ID!): Book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books(limit: Int): [Book!]!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E535AB"/>
                </a:solidFill>
                <a:latin typeface="Consolas"/>
                <a:ea typeface="Consolas"/>
                <a:cs typeface="Consolas"/>
                <a:sym typeface="Consolas"/>
              </a:rPr>
              <a:t>La requête client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4663440" y="1371600"/>
            <a:ext cx="4023360" cy="150875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4846320" y="1498185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query {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book(id: "42") {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author { name }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reviews { rating }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4663440" y="2926080"/>
            <a:ext cx="4023360" cy="32004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E535AB"/>
                </a:solidFill>
                <a:latin typeface="Consolas"/>
                <a:ea typeface="Consolas"/>
                <a:cs typeface="Consolas"/>
                <a:sym typeface="Consolas"/>
              </a:rPr>
              <a:t>Le resolver (côté serveur)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663450" y="3291849"/>
            <a:ext cx="4023300" cy="1491747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4846300" y="341842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Chaque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champ a un resolver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Book: {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author: (book) =&gt;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db.get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("SELECT * FROM authors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WHERE id = ?",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book.author_id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reviews: (book) =&gt;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db.all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("SELECT * FROM reviews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WHERE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book_id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?",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book.id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457200" y="4326396"/>
            <a:ext cx="3931920" cy="45720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640080" y="4326396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 b="1" i="0" u="none" strike="noStrike" cap="none" dirty="0" err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requête</a:t>
            </a:r>
            <a:r>
              <a:rPr lang="en-US" sz="1200" b="1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 HTTP → </a:t>
            </a:r>
            <a:r>
              <a:rPr lang="en-US" sz="1200" b="1" i="0" u="none" strike="noStrike" cap="none" dirty="0" err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exactement</a:t>
            </a:r>
            <a:r>
              <a:rPr lang="en-US" sz="1200" b="1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 les données </a:t>
            </a:r>
            <a:r>
              <a:rPr lang="en-US" sz="1200" b="1" i="0" u="none" strike="noStrike" cap="none" dirty="0" err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demandées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— Le problème N+1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resolver est indépendant — chacun fait sa propre requête SQL.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solidFill>
            <a:srgbClr val="3B15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Sans DataLoader (naïf)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57200" y="1783079"/>
            <a:ext cx="3931920" cy="263777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640080" y="1874520"/>
            <a:ext cx="3566160" cy="244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books(limit:5) { author { name } }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books LIMIT 5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id=1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id=2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id=3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id=4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id=5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1 + N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requêtes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SQL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Avec DataLoader (batch)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4754875" y="1783074"/>
            <a:ext cx="3931800" cy="2637785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4937760" y="1874519"/>
            <a:ext cx="3566160" cy="244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loader = new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DataLoader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async (ids) =&gt; {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const rows =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db.all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`SELECT * FROM authors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WHERE id IN (${ids})`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ids.map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(id =&gt;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rows.find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 =&gt;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a.id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=== id)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2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requêtes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SQL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seulement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d5e56ee05_0_6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cd5e56ee05_0_63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</a:t>
            </a: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 Inconvénients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cd5e56ee05_0_63"/>
          <p:cNvSpPr/>
          <p:nvPr/>
        </p:nvSpPr>
        <p:spPr>
          <a:xfrm>
            <a:off x="1549200" y="1510475"/>
            <a:ext cx="6045600" cy="25575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3cd5e56ee05_0_63"/>
          <p:cNvSpPr/>
          <p:nvPr/>
        </p:nvSpPr>
        <p:spPr>
          <a:xfrm>
            <a:off x="1549195" y="1584993"/>
            <a:ext cx="36576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3cd5e56ee05_0_63"/>
          <p:cNvSpPr/>
          <p:nvPr/>
        </p:nvSpPr>
        <p:spPr>
          <a:xfrm>
            <a:off x="1549200" y="1763850"/>
            <a:ext cx="5757900" cy="25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 Pas de cache HTTP natif (tout POST)</a:t>
            </a:r>
            <a:endParaRPr sz="110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 Attaques par query complexity</a:t>
            </a:r>
            <a:endParaRPr sz="110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Pas de support natif du streaming</a:t>
            </a:r>
            <a:endParaRPr sz="110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Plus difficile à monitorer et logger que REST (pas d'URLs standardisées)</a:t>
            </a:r>
            <a:endParaRPr sz="110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Upload de fichiers hors spec</a:t>
            </a:r>
            <a:endParaRPr sz="110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Trop complexe pour des cas simpels</a:t>
            </a:r>
            <a:endParaRPr sz="1100">
              <a:solidFill>
                <a:srgbClr val="A0AEC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A0AEC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endParaRPr sz="1100">
              <a:solidFill>
                <a:srgbClr val="A0AEC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Comparaison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8" name="Google Shape;448;p17"/>
          <p:cNvGraphicFramePr/>
          <p:nvPr/>
        </p:nvGraphicFramePr>
        <p:xfrm>
          <a:off x="457200" y="1005840"/>
          <a:ext cx="8229600" cy="3291800"/>
        </p:xfrm>
        <a:graphic>
          <a:graphicData uri="http://schemas.openxmlformats.org/drawingml/2006/table">
            <a:tbl>
              <a:tblPr>
                <a:noFill/>
                <a:tableStyleId>{B338D3A2-6759-4C2F-B7EF-E4B06129EB26}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59E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SOAP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B82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5A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535A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GraphQL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Nature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Protocole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Style architectural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Langage de requête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Format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XML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(ou autre)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Contrat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WSDL (formel)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OpenAPI (optionnel)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SDL (intrinsèque)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Endpoints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(POST)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 (par ressource)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(POST /graphql)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Cache HTTP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Difficile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Natif (GET)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Impossible*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Req / vue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par opération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 (under-fetching)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(client choisit)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Piège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Verbosité XML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Over-fetching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N+1 SQL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9" name="Google Shape;449;p17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* Sauf avec persisted queries ou GET queries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Démo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Même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catalogue de livres avec 3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approches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457200" y="1554480"/>
            <a:ext cx="19659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457200" y="1554480"/>
            <a:ext cx="1965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1161288" y="17830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1161288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548640" y="23774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Récupérer</a:t>
            </a: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un livre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548640" y="27432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Comparer XML SOAP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vs JSON REST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vs JSON </a:t>
            </a:r>
            <a:r>
              <a:rPr lang="en-US" sz="10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GraphQL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2606040" y="1554480"/>
            <a:ext cx="19659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2606040" y="1554480"/>
            <a:ext cx="1965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3310128" y="17830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3310128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2697480" y="23774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Données </a:t>
            </a:r>
            <a:r>
              <a:rPr lang="en-US" sz="1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liées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2697480" y="27432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REST : 3 </a:t>
            </a:r>
            <a:r>
              <a:rPr lang="en-US" sz="10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requêtes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GraphQL</a:t>
            </a: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: 1 </a:t>
            </a:r>
            <a:r>
              <a:rPr lang="en-US" sz="10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requête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pour les </a:t>
            </a:r>
            <a:r>
              <a:rPr lang="en-US" sz="10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mêmes</a:t>
            </a: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données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4754880" y="1554480"/>
            <a:ext cx="19659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4754880" y="1554480"/>
            <a:ext cx="196596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5458968" y="1783080"/>
            <a:ext cx="502920" cy="502920"/>
          </a:xfrm>
          <a:prstGeom prst="ellipse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5458968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4846320" y="23774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 + 1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4846320" y="27432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Logs SQL : naïf (6)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vs DataLoader (2)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en temps réel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6903720" y="1554480"/>
            <a:ext cx="19659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8"/>
          <p:cNvSpPr/>
          <p:nvPr/>
        </p:nvSpPr>
        <p:spPr>
          <a:xfrm>
            <a:off x="6903720" y="1554480"/>
            <a:ext cx="196596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7607808" y="1783080"/>
            <a:ext cx="502920" cy="5029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"/>
          <p:cNvSpPr/>
          <p:nvPr/>
        </p:nvSpPr>
        <p:spPr>
          <a:xfrm>
            <a:off x="7607808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6995160" y="23774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Bilan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6995160" y="27432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Tout côte à côte 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req HTTP, req SQL,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taille payloads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S1 — GetBook(id=1)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71033" y="1625981"/>
            <a:ext cx="44877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53907" y="1625986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SOAP + REST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71032" y="1991756"/>
            <a:ext cx="4487700" cy="26189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73532" y="1991756"/>
            <a:ext cx="4550700" cy="2738942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POST /soap</a:t>
            </a:r>
            <a:endParaRPr lang="en-US"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3 SQL | 4 128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(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retourne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auteur + reviews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complets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GET /rest/books/1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546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(champs fixes + _links HATEOAS)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49707" y="1625981"/>
            <a:ext cx="37104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332582" y="1625973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49707" y="1991756"/>
            <a:ext cx="3710400" cy="26189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252207" y="1991756"/>
            <a:ext cx="3710400" cy="2738942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minimal :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seulement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certains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champs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book(id: "1") { id title year genre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130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complet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: auteur + reviews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book(id: "1") {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title author { name 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reviews { reviewer rating }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3 SQL | 442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Google Shape;458;p18">
            <a:extLst>
              <a:ext uri="{FF2B5EF4-FFF2-40B4-BE49-F238E27FC236}">
                <a16:creationId xmlns:a16="http://schemas.microsoft.com/office/drawing/2014/main" id="{C9CE1A36-D83E-6ECE-7520-7FA52B75FC42}"/>
              </a:ext>
            </a:extLst>
          </p:cNvPr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A0AEC0"/>
              </a:buClr>
              <a:buSzPts val="1400"/>
            </a:pPr>
            <a:r>
              <a:rPr lang="en-US" dirty="0">
                <a:solidFill>
                  <a:srgbClr val="A0AEC0"/>
                </a:solidFill>
              </a:rPr>
              <a:t>Trois APIs, </a:t>
            </a:r>
            <a:r>
              <a:rPr lang="en-US" dirty="0" err="1">
                <a:solidFill>
                  <a:srgbClr val="A0AEC0"/>
                </a:solidFill>
              </a:rPr>
              <a:t>même</a:t>
            </a:r>
            <a:r>
              <a:rPr lang="en-US" dirty="0">
                <a:solidFill>
                  <a:srgbClr val="A0AEC0"/>
                </a:solidFill>
              </a:rPr>
              <a:t> donnée : SOAP </a:t>
            </a:r>
            <a:r>
              <a:rPr lang="en-US" dirty="0" err="1">
                <a:solidFill>
                  <a:srgbClr val="A0AEC0"/>
                </a:solidFill>
              </a:rPr>
              <a:t>renvoie</a:t>
            </a:r>
            <a:r>
              <a:rPr lang="en-US" dirty="0">
                <a:solidFill>
                  <a:srgbClr val="A0AEC0"/>
                </a:solidFill>
              </a:rPr>
              <a:t> tout, REST </a:t>
            </a:r>
            <a:r>
              <a:rPr lang="en-US" dirty="0" err="1">
                <a:solidFill>
                  <a:srgbClr val="A0AEC0"/>
                </a:solidFill>
              </a:rPr>
              <a:t>overfetch</a:t>
            </a:r>
            <a:r>
              <a:rPr lang="en-US" dirty="0">
                <a:solidFill>
                  <a:srgbClr val="A0AEC0"/>
                </a:solidFill>
              </a:rPr>
              <a:t>, </a:t>
            </a:r>
            <a:r>
              <a:rPr lang="en-US" dirty="0" err="1">
                <a:solidFill>
                  <a:srgbClr val="A0AEC0"/>
                </a:solidFill>
              </a:rPr>
              <a:t>GraphQL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renvoie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exactement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ce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qu'on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demande</a:t>
            </a:r>
            <a:r>
              <a:rPr lang="en-US" dirty="0">
                <a:solidFill>
                  <a:srgbClr val="A0AEC0"/>
                </a:solidFill>
              </a:rPr>
              <a:t>.</a:t>
            </a:r>
            <a:endParaRPr sz="1400" b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S2 — HATEOAS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63476" y="1512626"/>
            <a:ext cx="44877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46350" y="1512631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REST — 3 requêtes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63475" y="1878401"/>
            <a:ext cx="4487700" cy="28749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65975" y="1878401"/>
            <a:ext cx="455070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GET /rest/books/1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546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GET /rest/authors/1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242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GET /rest/books/1/reviews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657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TOTAL : 3 HTTP, 3 SQL, 1 445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42150" y="1512626"/>
            <a:ext cx="37104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325025" y="1512618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 — 1 requête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42150" y="1878401"/>
            <a:ext cx="3710400" cy="28749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244650" y="1878401"/>
            <a:ext cx="371040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book(id: "1")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title year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author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name nationality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reviews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reviewer rating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3 SQL | 442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Google Shape;458;p18">
            <a:extLst>
              <a:ext uri="{FF2B5EF4-FFF2-40B4-BE49-F238E27FC236}">
                <a16:creationId xmlns:a16="http://schemas.microsoft.com/office/drawing/2014/main" id="{EF62695D-CEE1-EFE1-0A5A-09B79F2DDDD4}"/>
              </a:ext>
            </a:extLst>
          </p:cNvPr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A0AEC0"/>
              </a:buClr>
              <a:buSzPts val="1400"/>
            </a:pPr>
            <a:r>
              <a:rPr lang="en-US" dirty="0">
                <a:solidFill>
                  <a:srgbClr val="A0AEC0"/>
                </a:solidFill>
              </a:rPr>
              <a:t>REST suit </a:t>
            </a:r>
            <a:r>
              <a:rPr lang="en-US" dirty="0" err="1">
                <a:solidFill>
                  <a:srgbClr val="A0AEC0"/>
                </a:solidFill>
              </a:rPr>
              <a:t>ses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propres</a:t>
            </a:r>
            <a:r>
              <a:rPr lang="en-US" dirty="0">
                <a:solidFill>
                  <a:srgbClr val="A0AEC0"/>
                </a:solidFill>
              </a:rPr>
              <a:t> liens : 3 </a:t>
            </a:r>
            <a:r>
              <a:rPr lang="en-US" dirty="0" err="1">
                <a:solidFill>
                  <a:srgbClr val="A0AEC0"/>
                </a:solidFill>
              </a:rPr>
              <a:t>requêtes</a:t>
            </a:r>
            <a:r>
              <a:rPr lang="en-US" dirty="0">
                <a:solidFill>
                  <a:srgbClr val="A0AEC0"/>
                </a:solidFill>
              </a:rPr>
              <a:t> pour </a:t>
            </a:r>
            <a:r>
              <a:rPr lang="en-US" dirty="0" err="1">
                <a:solidFill>
                  <a:srgbClr val="A0AEC0"/>
                </a:solidFill>
              </a:rPr>
              <a:t>reconstituer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ce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que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GraphQL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retourne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en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une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seule</a:t>
            </a:r>
            <a:r>
              <a:rPr lang="en-US" dirty="0">
                <a:solidFill>
                  <a:srgbClr val="A0AEC0"/>
                </a:solidFill>
              </a:rPr>
              <a:t>.</a:t>
            </a:r>
            <a:endParaRPr sz="1400" b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S3 —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Problème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N+1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415488" y="1671316"/>
            <a:ext cx="3060595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2585676" y="1671321"/>
            <a:ext cx="2369664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Sans DataLoader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415487" y="2037091"/>
            <a:ext cx="3060595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2513551" y="2037091"/>
            <a:ext cx="2818949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POST /</a:t>
            </a:r>
            <a:r>
              <a:rPr lang="en-US" sz="950" dirty="0" err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SQL: SELECT * FROM books LIMIT 5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id=2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id=2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id=2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6 SQL | 665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772684" y="1671324"/>
            <a:ext cx="3060595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951987" y="1671316"/>
            <a:ext cx="2866091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Avec DataLoader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772684" y="2037099"/>
            <a:ext cx="3060595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870748" y="2037099"/>
            <a:ext cx="2818949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POST /</a:t>
            </a:r>
            <a:r>
              <a:rPr lang="en-US" sz="950" dirty="0" err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(X-Use-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Dataloader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true)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SQL: SELECT * FROM books LIMIT 5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     WHERE id IN (1,2)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2 SQL | 665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185;p7">
            <a:extLst>
              <a:ext uri="{FF2B5EF4-FFF2-40B4-BE49-F238E27FC236}">
                <a16:creationId xmlns:a16="http://schemas.microsoft.com/office/drawing/2014/main" id="{33B15241-3037-1BBC-3755-9A2651FFC990}"/>
              </a:ext>
            </a:extLst>
          </p:cNvPr>
          <p:cNvSpPr/>
          <p:nvPr/>
        </p:nvSpPr>
        <p:spPr>
          <a:xfrm>
            <a:off x="412807" y="1671316"/>
            <a:ext cx="1608019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86;p7">
            <a:extLst>
              <a:ext uri="{FF2B5EF4-FFF2-40B4-BE49-F238E27FC236}">
                <a16:creationId xmlns:a16="http://schemas.microsoft.com/office/drawing/2014/main" id="{D6C59992-3B52-62FA-8A06-A6CD61DF69A3}"/>
              </a:ext>
            </a:extLst>
          </p:cNvPr>
          <p:cNvSpPr/>
          <p:nvPr/>
        </p:nvSpPr>
        <p:spPr>
          <a:xfrm>
            <a:off x="582995" y="1671321"/>
            <a:ext cx="1245008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Requête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87;p7">
            <a:extLst>
              <a:ext uri="{FF2B5EF4-FFF2-40B4-BE49-F238E27FC236}">
                <a16:creationId xmlns:a16="http://schemas.microsoft.com/office/drawing/2014/main" id="{93C2174D-A791-28DA-7A2A-872C5FCF77BE}"/>
              </a:ext>
            </a:extLst>
          </p:cNvPr>
          <p:cNvSpPr/>
          <p:nvPr/>
        </p:nvSpPr>
        <p:spPr>
          <a:xfrm>
            <a:off x="412806" y="2037091"/>
            <a:ext cx="1608019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88;p7">
            <a:extLst>
              <a:ext uri="{FF2B5EF4-FFF2-40B4-BE49-F238E27FC236}">
                <a16:creationId xmlns:a16="http://schemas.microsoft.com/office/drawing/2014/main" id="{41D344B7-8FC2-BEFA-38A1-702729A7BF79}"/>
              </a:ext>
            </a:extLst>
          </p:cNvPr>
          <p:cNvSpPr/>
          <p:nvPr/>
        </p:nvSpPr>
        <p:spPr>
          <a:xfrm>
            <a:off x="510870" y="2037091"/>
            <a:ext cx="148106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92;p7">
            <a:extLst>
              <a:ext uri="{FF2B5EF4-FFF2-40B4-BE49-F238E27FC236}">
                <a16:creationId xmlns:a16="http://schemas.microsoft.com/office/drawing/2014/main" id="{D6217C53-B3DB-12A4-3977-E0A866AD7E77}"/>
              </a:ext>
            </a:extLst>
          </p:cNvPr>
          <p:cNvSpPr/>
          <p:nvPr/>
        </p:nvSpPr>
        <p:spPr>
          <a:xfrm>
            <a:off x="455875" y="2088391"/>
            <a:ext cx="1481060" cy="211331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books(limit 5)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id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author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name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458;p18">
            <a:extLst>
              <a:ext uri="{FF2B5EF4-FFF2-40B4-BE49-F238E27FC236}">
                <a16:creationId xmlns:a16="http://schemas.microsoft.com/office/drawing/2014/main" id="{87703A13-781B-910B-37F9-8B319B04E3D1}"/>
              </a:ext>
            </a:extLst>
          </p:cNvPr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A0AEC0"/>
              </a:buClr>
              <a:buSzPts val="1400"/>
            </a:pPr>
            <a:r>
              <a:rPr lang="en-US" dirty="0">
                <a:solidFill>
                  <a:srgbClr val="A0AEC0"/>
                </a:solidFill>
              </a:rPr>
              <a:t>Sans </a:t>
            </a:r>
            <a:r>
              <a:rPr lang="en-US" dirty="0" err="1">
                <a:solidFill>
                  <a:srgbClr val="A0AEC0"/>
                </a:solidFill>
              </a:rPr>
              <a:t>optimisation</a:t>
            </a:r>
            <a:r>
              <a:rPr lang="en-US" dirty="0">
                <a:solidFill>
                  <a:srgbClr val="A0AEC0"/>
                </a:solidFill>
              </a:rPr>
              <a:t>, </a:t>
            </a:r>
            <a:r>
              <a:rPr lang="en-US" dirty="0" err="1">
                <a:solidFill>
                  <a:srgbClr val="A0AEC0"/>
                </a:solidFill>
              </a:rPr>
              <a:t>GraphQL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requête</a:t>
            </a:r>
            <a:r>
              <a:rPr lang="en-US" dirty="0">
                <a:solidFill>
                  <a:srgbClr val="A0AEC0"/>
                </a:solidFill>
              </a:rPr>
              <a:t> la base </a:t>
            </a:r>
            <a:r>
              <a:rPr lang="en-US" dirty="0" err="1">
                <a:solidFill>
                  <a:srgbClr val="A0AEC0"/>
                </a:solidFill>
              </a:rPr>
              <a:t>une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fois</a:t>
            </a:r>
            <a:r>
              <a:rPr lang="en-US" dirty="0">
                <a:solidFill>
                  <a:srgbClr val="A0AEC0"/>
                </a:solidFill>
              </a:rPr>
              <a:t> par livre </a:t>
            </a:r>
            <a:r>
              <a:rPr lang="en-US" dirty="0" err="1">
                <a:solidFill>
                  <a:srgbClr val="A0AEC0"/>
                </a:solidFill>
              </a:rPr>
              <a:t>tandis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qu’avec</a:t>
            </a:r>
            <a:r>
              <a:rPr lang="en-US" dirty="0">
                <a:solidFill>
                  <a:srgbClr val="A0AEC0"/>
                </a:solidFill>
              </a:rPr>
              <a:t> le </a:t>
            </a:r>
            <a:r>
              <a:rPr lang="en-US" dirty="0" err="1">
                <a:solidFill>
                  <a:srgbClr val="A0AEC0"/>
                </a:solidFill>
              </a:rPr>
              <a:t>DataLoader</a:t>
            </a:r>
            <a:r>
              <a:rPr lang="en-US" dirty="0">
                <a:solidFill>
                  <a:srgbClr val="A0AEC0"/>
                </a:solidFill>
              </a:rPr>
              <a:t> tout est </a:t>
            </a:r>
            <a:r>
              <a:rPr lang="en-US" dirty="0" err="1">
                <a:solidFill>
                  <a:srgbClr val="A0AEC0"/>
                </a:solidFill>
              </a:rPr>
              <a:t>regroupé</a:t>
            </a:r>
            <a:r>
              <a:rPr lang="en-US" dirty="0">
                <a:solidFill>
                  <a:srgbClr val="A0AEC0"/>
                </a:solidFill>
              </a:rPr>
              <a:t> dans </a:t>
            </a:r>
            <a:r>
              <a:rPr lang="en-US" dirty="0" err="1">
                <a:solidFill>
                  <a:srgbClr val="A0AEC0"/>
                </a:solidFill>
              </a:rPr>
              <a:t>une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seule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requête</a:t>
            </a:r>
            <a:r>
              <a:rPr lang="en-US" dirty="0">
                <a:solidFill>
                  <a:srgbClr val="A0AEC0"/>
                </a:solidFill>
              </a:rPr>
              <a:t> batch.</a:t>
            </a:r>
            <a:endParaRPr sz="1400" b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S4 — Comparaison finale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01261" y="2066252"/>
            <a:ext cx="44877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84135" y="2066257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REST + SOAP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1260" y="2432027"/>
            <a:ext cx="44877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703760" y="2432027"/>
            <a:ext cx="455070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REST (liste + 2 auteurs) :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3 req   4 SQL   2 048 octets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1+N HTTP, assemblage côté client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SOAP GetBooks :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req   2 SQL   1 580 octets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XML verbeux, schéma rigide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79935" y="2066252"/>
            <a:ext cx="37104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362810" y="2066244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 + DataLoader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79935" y="2432027"/>
            <a:ext cx="37104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282435" y="2432027"/>
            <a:ext cx="371040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books(limit: 5) {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id title genre year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author 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name nationality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req   2 SQL   665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1 HTTP, payload minimal,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exactement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ce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qui est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demandé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Google Shape;458;p18">
            <a:extLst>
              <a:ext uri="{FF2B5EF4-FFF2-40B4-BE49-F238E27FC236}">
                <a16:creationId xmlns:a16="http://schemas.microsoft.com/office/drawing/2014/main" id="{F0B06E00-A64D-0AF9-BDEF-C91D74BA82E7}"/>
              </a:ext>
            </a:extLst>
          </p:cNvPr>
          <p:cNvSpPr/>
          <p:nvPr/>
        </p:nvSpPr>
        <p:spPr>
          <a:xfrm>
            <a:off x="731520" y="1005839"/>
            <a:ext cx="7680960" cy="90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A0AEC0"/>
              </a:buClr>
              <a:buSzPts val="1400"/>
            </a:pPr>
            <a:r>
              <a:rPr lang="en-US" dirty="0">
                <a:solidFill>
                  <a:srgbClr val="A0AEC0"/>
                </a:solidFill>
              </a:rPr>
              <a:t>Objectif : lister 5 livres avec </a:t>
            </a:r>
            <a:r>
              <a:rPr lang="en-US" dirty="0" err="1">
                <a:solidFill>
                  <a:srgbClr val="A0AEC0"/>
                </a:solidFill>
              </a:rPr>
              <a:t>leur</a:t>
            </a:r>
            <a:r>
              <a:rPr lang="en-US" dirty="0">
                <a:solidFill>
                  <a:srgbClr val="A0AEC0"/>
                </a:solidFill>
              </a:rPr>
              <a:t> auteur (nom + </a:t>
            </a:r>
            <a:r>
              <a:rPr lang="en-US" dirty="0" err="1">
                <a:solidFill>
                  <a:srgbClr val="A0AEC0"/>
                </a:solidFill>
              </a:rPr>
              <a:t>nationalité</a:t>
            </a:r>
            <a:r>
              <a:rPr lang="en-US" dirty="0">
                <a:solidFill>
                  <a:srgbClr val="A0AEC0"/>
                </a:solidFill>
              </a:rPr>
              <a:t>) </a:t>
            </a:r>
          </a:p>
          <a:p>
            <a:pPr marL="285750" lvl="0" indent="-285750">
              <a:buClr>
                <a:srgbClr val="A0AEC0"/>
              </a:buClr>
              <a:buSzPts val="1400"/>
              <a:buFontTx/>
              <a:buChar char="-"/>
            </a:pPr>
            <a:r>
              <a:rPr lang="en-US" dirty="0" err="1">
                <a:solidFill>
                  <a:srgbClr val="A0AEC0"/>
                </a:solidFill>
              </a:rPr>
              <a:t>GraphQL</a:t>
            </a:r>
            <a:r>
              <a:rPr lang="en-US" dirty="0">
                <a:solidFill>
                  <a:srgbClr val="A0AEC0"/>
                </a:solidFill>
              </a:rPr>
              <a:t> + </a:t>
            </a:r>
            <a:r>
              <a:rPr lang="en-US" dirty="0" err="1">
                <a:solidFill>
                  <a:srgbClr val="A0AEC0"/>
                </a:solidFill>
              </a:rPr>
              <a:t>DataLoader</a:t>
            </a:r>
            <a:r>
              <a:rPr lang="en-US" dirty="0">
                <a:solidFill>
                  <a:srgbClr val="A0AEC0"/>
                </a:solidFill>
              </a:rPr>
              <a:t> y </a:t>
            </a:r>
            <a:r>
              <a:rPr lang="en-US" dirty="0" err="1">
                <a:solidFill>
                  <a:srgbClr val="A0AEC0"/>
                </a:solidFill>
              </a:rPr>
              <a:t>répond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en</a:t>
            </a:r>
            <a:r>
              <a:rPr lang="en-US" dirty="0">
                <a:solidFill>
                  <a:srgbClr val="A0AEC0"/>
                </a:solidFill>
              </a:rPr>
              <a:t> 1 </a:t>
            </a:r>
            <a:r>
              <a:rPr lang="en-US" dirty="0" err="1">
                <a:solidFill>
                  <a:srgbClr val="A0AEC0"/>
                </a:solidFill>
              </a:rPr>
              <a:t>requête</a:t>
            </a:r>
            <a:r>
              <a:rPr lang="en-US" dirty="0">
                <a:solidFill>
                  <a:srgbClr val="A0AEC0"/>
                </a:solidFill>
              </a:rPr>
              <a:t> et 2 SQL</a:t>
            </a:r>
          </a:p>
          <a:p>
            <a:pPr marL="285750" lvl="0" indent="-285750">
              <a:buClr>
                <a:srgbClr val="A0AEC0"/>
              </a:buClr>
              <a:buSzPts val="1400"/>
              <a:buFontTx/>
              <a:buChar char="-"/>
            </a:pPr>
            <a:r>
              <a:rPr lang="en-US" dirty="0">
                <a:solidFill>
                  <a:srgbClr val="A0AEC0"/>
                </a:solidFill>
              </a:rPr>
              <a:t>REST </a:t>
            </a:r>
            <a:r>
              <a:rPr lang="en-US" dirty="0" err="1">
                <a:solidFill>
                  <a:srgbClr val="A0AEC0"/>
                </a:solidFill>
              </a:rPr>
              <a:t>en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nécessite</a:t>
            </a:r>
            <a:r>
              <a:rPr lang="en-US" dirty="0">
                <a:solidFill>
                  <a:srgbClr val="A0AEC0"/>
                </a:solidFill>
              </a:rPr>
              <a:t> 3 HTTP et 4 SQL</a:t>
            </a:r>
          </a:p>
          <a:p>
            <a:pPr marL="285750" lvl="0" indent="-285750">
              <a:buClr>
                <a:srgbClr val="A0AEC0"/>
              </a:buClr>
              <a:buSzPts val="1400"/>
              <a:buFontTx/>
              <a:buChar char="-"/>
            </a:pPr>
            <a:r>
              <a:rPr lang="en-US" dirty="0">
                <a:solidFill>
                  <a:srgbClr val="A0AEC0"/>
                </a:solidFill>
              </a:rPr>
              <a:t>SOAP </a:t>
            </a:r>
            <a:r>
              <a:rPr lang="en-US" dirty="0" err="1">
                <a:solidFill>
                  <a:srgbClr val="A0AEC0"/>
                </a:solidFill>
              </a:rPr>
              <a:t>retourne</a:t>
            </a:r>
            <a:r>
              <a:rPr lang="en-US" dirty="0">
                <a:solidFill>
                  <a:srgbClr val="A0AEC0"/>
                </a:solidFill>
              </a:rPr>
              <a:t> un XML </a:t>
            </a:r>
            <a:r>
              <a:rPr lang="en-US" dirty="0" err="1">
                <a:solidFill>
                  <a:srgbClr val="A0AEC0"/>
                </a:solidFill>
              </a:rPr>
              <a:t>verbeux</a:t>
            </a:r>
            <a:r>
              <a:rPr lang="en-US" dirty="0">
                <a:solidFill>
                  <a:srgbClr val="A0AEC0"/>
                </a:solidFill>
              </a:rPr>
              <a:t> deux </a:t>
            </a:r>
            <a:r>
              <a:rPr lang="en-US" dirty="0" err="1">
                <a:solidFill>
                  <a:srgbClr val="A0AEC0"/>
                </a:solidFill>
              </a:rPr>
              <a:t>fois</a:t>
            </a:r>
            <a:r>
              <a:rPr lang="en-US" dirty="0">
                <a:solidFill>
                  <a:srgbClr val="A0AEC0"/>
                </a:solidFill>
              </a:rPr>
              <a:t> plus </a:t>
            </a:r>
            <a:r>
              <a:rPr lang="en-US" dirty="0" err="1">
                <a:solidFill>
                  <a:srgbClr val="A0AEC0"/>
                </a:solidFill>
              </a:rPr>
              <a:t>lourd</a:t>
            </a:r>
            <a:r>
              <a:rPr lang="en-US" dirty="0">
                <a:solidFill>
                  <a:srgbClr val="A0AEC0"/>
                </a:solidFill>
              </a:rPr>
              <a:t>.</a:t>
            </a:r>
            <a:endParaRPr sz="1400" b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Quand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utiliser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quoi ?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500"/>
              <a:buFont typeface="Arial"/>
              <a:buNone/>
            </a:pPr>
            <a:r>
              <a:rPr lang="en-US" sz="1500" b="1" i="1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Il n'y a pas de gagnant universel.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731520" y="1463040"/>
            <a:ext cx="7680960" cy="9601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731520" y="1463040"/>
            <a:ext cx="6400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3" name="Google Shape;493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16642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9"/>
          <p:cNvSpPr/>
          <p:nvPr/>
        </p:nvSpPr>
        <p:spPr>
          <a:xfrm>
            <a:off x="1691640" y="1508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SOAP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3200400" y="150876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WS-Security (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banques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, santé)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Transactions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distribuées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Intégration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B2B (WSDL)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Écosystème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Java EE, .NET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731520" y="2560320"/>
            <a:ext cx="7680960" cy="9601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731520" y="2560320"/>
            <a:ext cx="64008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8" name="Google Shape;498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" y="276148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9"/>
          <p:cNvSpPr/>
          <p:nvPr/>
        </p:nvSpPr>
        <p:spPr>
          <a:xfrm>
            <a:off x="169164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REST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3200400" y="260604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CRUD,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ressources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bien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définies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Cache HTTP (CDN)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APIs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publiques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Simplicité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et adoption large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731520" y="3657600"/>
            <a:ext cx="64008" cy="96012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" name="Google Shape;503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840" y="38587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9"/>
          <p:cNvSpPr/>
          <p:nvPr/>
        </p:nvSpPr>
        <p:spPr>
          <a:xfrm>
            <a:off x="1691640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E535AB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3200400" y="370332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Clients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variés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(mobile, web, IoT)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fr-FR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Données interconnectées 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Itération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rapide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frontend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Projection fine des données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Merci !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r>
              <a:rPr lang="en-US" sz="20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2400" b="1" i="0" u="none" strike="noStrike" cap="none">
                <a:solidFill>
                  <a:srgbClr val="E535AB"/>
                </a:solidFill>
                <a:latin typeface="Calibri"/>
                <a:ea typeface="Calibri"/>
                <a:cs typeface="Calibri"/>
                <a:sym typeface="Calibri"/>
              </a:rPr>
              <a:t>GraphQL</a:t>
            </a:r>
            <a:r>
              <a:rPr lang="en-US" sz="20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2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SOAP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Questions 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Sources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731520" y="105156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822960" y="105156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1051560" y="105156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Fielding (2000). Architectural Styles and the Design of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Network-Based Software Architectures. UC Irvine.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731520" y="201168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822960" y="201168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1051560" y="201168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W3C. SOAP 1.2 Specification.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https://www.w3.org/TR/soap12/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731520" y="297180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822960" y="297180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1051560" y="297180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GraphQL Foundation. GraphQL Specification.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https://spec.graphql.org/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731520" y="393192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822960" y="393192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1051560" y="393192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Fowler (2010). Richardson Maturity Model.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https://martinfowler.com/articles/richardsonMaturityModel.html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4846320" y="105156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4937760" y="105156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5166360" y="105156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Byron (2015). GraphQL: A data query language.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https://engineering.fb.com/core-infra/graphql-a-data-query-language/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846320" y="201168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4937760" y="201168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5166360" y="201168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W3C. WSDL 2.0 Specification.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https://www.w3.org/TR/wsdl20/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4846320" y="297180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0"/>
          <p:cNvSpPr/>
          <p:nvPr/>
        </p:nvSpPr>
        <p:spPr>
          <a:xfrm>
            <a:off x="4937760" y="297180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5166360" y="297180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Two-Bit History (2020). Fielding's Misappropriated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REST Dissertation. twobithistory.org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4846320" y="393192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4937760" y="393192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5166360" y="393192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GraphQL Foundation. DataLoader.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https://github.com/graphql/dataloader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2900</Words>
  <Application>Microsoft Macintosh PowerPoint</Application>
  <PresentationFormat>Affichage à l'écran (16:9)</PresentationFormat>
  <Paragraphs>551</Paragraphs>
  <Slides>30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6" baseType="lpstr">
      <vt:lpstr>Calibri</vt:lpstr>
      <vt:lpstr>Menlo</vt:lpstr>
      <vt:lpstr>Arial Black</vt:lpstr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Alban &amp; Romain</dc:creator>
  <cp:lastModifiedBy>Alban TALAGRAND</cp:lastModifiedBy>
  <cp:revision>2</cp:revision>
  <dcterms:created xsi:type="dcterms:W3CDTF">2026-03-05T18:24:57Z</dcterms:created>
  <dcterms:modified xsi:type="dcterms:W3CDTF">2026-03-06T04:02:00Z</dcterms:modified>
</cp:coreProperties>
</file>