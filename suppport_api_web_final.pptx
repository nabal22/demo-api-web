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82" r:id="rId24"/>
    <p:sldId id="283" r:id="rId25"/>
    <p:sldId id="284" r:id="rId26"/>
    <p:sldId id="285" r:id="rId27"/>
    <p:sldId id="286" r:id="rId28"/>
    <p:sldId id="279" r:id="rId29"/>
    <p:sldId id="281" r:id="rId30"/>
    <p:sldId id="280" r:id="rId31"/>
  </p:sldIdLst>
  <p:sldSz cx="9144000" cy="5143500" type="screen16x9"/>
  <p:notesSz cx="5143500" cy="9144000"/>
  <p:embeddedFontLst>
    <p:embeddedFont>
      <p:font typeface="Arial Black" panose="020B0604020202020204" pitchFamily="34" charset="0"/>
      <p:regular r:id="rId33"/>
      <p:bold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hHdDfBwlI2vY373uzYZe9rCGpB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3139"/>
    <a:srgbClr val="FF6371"/>
    <a:srgbClr val="712A31"/>
    <a:srgbClr val="993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38D3A2-6759-4C2F-B7EF-E4B06129EB26}">
  <a:tblStyle styleId="{B338D3A2-6759-4C2F-B7EF-E4B06129EB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82"/>
  </p:normalViewPr>
  <p:slideViewPr>
    <p:cSldViewPr snapToGrid="0">
      <p:cViewPr varScale="1">
        <p:scale>
          <a:sx n="127" d="100"/>
          <a:sy n="127" d="100"/>
        </p:scale>
        <p:origin x="184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5c87d4c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95c87d4c6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95c87d4c6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5c986e60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95c986e606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95c986e606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d517ccf5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3cd517ccf59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cd517ccf59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d517ccf5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g3cd517ccf59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3cd517ccf59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d5e56ee05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3cd5e56ee05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3cd5e56ee05_0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>
          <a:extLst>
            <a:ext uri="{FF2B5EF4-FFF2-40B4-BE49-F238E27FC236}">
              <a16:creationId xmlns:a16="http://schemas.microsoft.com/office/drawing/2014/main" id="{24A593A2-C9C8-6124-7EAE-E5B848364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7:notes">
            <a:extLst>
              <a:ext uri="{FF2B5EF4-FFF2-40B4-BE49-F238E27FC236}">
                <a16:creationId xmlns:a16="http://schemas.microsoft.com/office/drawing/2014/main" id="{127362C1-ED6F-F0E2-A536-8E4734E1A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17:notes">
            <a:extLst>
              <a:ext uri="{FF2B5EF4-FFF2-40B4-BE49-F238E27FC236}">
                <a16:creationId xmlns:a16="http://schemas.microsoft.com/office/drawing/2014/main" id="{5BA50455-E28A-225A-2D9D-4B9801E2C5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4" name="Google Shape;444;p17:notes">
            <a:extLst>
              <a:ext uri="{FF2B5EF4-FFF2-40B4-BE49-F238E27FC236}">
                <a16:creationId xmlns:a16="http://schemas.microsoft.com/office/drawing/2014/main" id="{AD6C6701-4F72-807B-0884-DD1638B2BD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6380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5" name="Google Shape;48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9" name="Google Shape;53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chemas.xmlsoap.org/soap/htt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APIs Web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lang="en-US" sz="28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vs.  </a:t>
            </a:r>
            <a:r>
              <a:rPr lang="en-US" sz="3600" b="1" i="0" u="none" strike="noStrike" cap="none">
                <a:solidFill>
                  <a:srgbClr val="E535AB"/>
                </a:solidFill>
                <a:latin typeface="Calibri"/>
                <a:ea typeface="Calibri"/>
                <a:cs typeface="Calibri"/>
                <a:sym typeface="Calibri"/>
              </a:rPr>
              <a:t>GraphQL</a:t>
            </a:r>
            <a:r>
              <a:rPr lang="en-US" sz="28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vs.  </a:t>
            </a: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A0AEC0"/>
              </a:buClr>
              <a:buSzPts val="1600"/>
            </a:pPr>
            <a:r>
              <a:rPr lang="en-US" sz="16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Alban Talagrand – Romain </a:t>
            </a:r>
            <a:r>
              <a:rPr lang="en-US" sz="1600" dirty="0">
                <a:solidFill>
                  <a:srgbClr val="A0AEC0"/>
                </a:solidFill>
              </a:rPr>
              <a:t>G</a:t>
            </a:r>
            <a:r>
              <a:rPr lang="en-US" sz="16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roult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Programmation</a:t>
            </a:r>
            <a:r>
              <a:rPr lang="en-US" sz="16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comparée</a:t>
            </a:r>
            <a:r>
              <a:rPr lang="en-US" sz="16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— 2026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4944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5280" y="914400"/>
            <a:ext cx="822960" cy="8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Qu'est-ce qu'une API 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Application Programming Interface :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interface pour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échanger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de la donnée entre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programmes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691640"/>
            <a:ext cx="3657600" cy="30175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" name="Google Shape;32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417320" y="182880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À quoi ça sert 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914400" y="241401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914400" y="241401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34440" y="233172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Interface pour </a:t>
            </a:r>
            <a:r>
              <a:rPr lang="en-US" sz="1050">
                <a:solidFill>
                  <a:srgbClr val="A0AEC0"/>
                </a:solidFill>
              </a:rPr>
              <a:t>un </a:t>
            </a: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client pour récupérer et manipuler de la donnée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914400" y="296265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914400" y="29626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34440" y="288036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Séparation logique métier / affichage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351129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914400" y="351129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34440" y="342900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Plusieurs clients différents  consomment </a:t>
            </a:r>
            <a:r>
              <a:rPr lang="en-US" sz="1050">
                <a:solidFill>
                  <a:srgbClr val="A0AEC0"/>
                </a:solidFill>
              </a:rPr>
              <a:t>un </a:t>
            </a: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 service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914400" y="4059936"/>
            <a:ext cx="201168" cy="201168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14400" y="405993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 Black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234440" y="3977640"/>
            <a:ext cx="29718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Contrat : quelles opérations </a:t>
            </a:r>
            <a:r>
              <a:rPr lang="en-US" sz="1050">
                <a:solidFill>
                  <a:srgbClr val="A0AEC0"/>
                </a:solidFill>
              </a:rPr>
              <a:t>? </a:t>
            </a: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quels formats ?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754880" y="1691640"/>
            <a:ext cx="3840600" cy="3017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7760" y="182880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5440680" y="182880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Architecture type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120615" y="2423158"/>
            <a:ext cx="1371600" cy="64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120640" y="2423095"/>
            <a:ext cx="13716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(Front-end)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040880" y="2331720"/>
            <a:ext cx="1371600" cy="1097280"/>
          </a:xfrm>
          <a:prstGeom prst="rect">
            <a:avLst/>
          </a:prstGeom>
          <a:solidFill>
            <a:srgbClr val="E94560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040880" y="23317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(Serveur)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040880" y="288036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Logique métier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Validation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B4C4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B4C4"/>
                </a:solidFill>
                <a:latin typeface="Arial"/>
                <a:ea typeface="Arial"/>
                <a:cs typeface="Arial"/>
                <a:sym typeface="Arial"/>
              </a:rPr>
              <a:t>Autorisation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40880" y="3931920"/>
            <a:ext cx="1371600" cy="548640"/>
          </a:xfrm>
          <a:prstGeom prst="rect">
            <a:avLst/>
          </a:prstGeom>
          <a:solidFill>
            <a:srgbClr val="334155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040880" y="39319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Base de données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120640" y="3163830"/>
            <a:ext cx="1005900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120603" y="3163830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120640" y="3977640"/>
            <a:ext cx="100584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120640" y="397764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A0AEC0"/>
                </a:solidFill>
              </a:rPr>
              <a:t>APIs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2"/>
          <p:cNvCxnSpPr/>
          <p:nvPr/>
        </p:nvCxnSpPr>
        <p:spPr>
          <a:xfrm rot="10800000" flipH="1">
            <a:off x="6302625" y="3260400"/>
            <a:ext cx="608100" cy="117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1" name="Google Shape;61;p2"/>
          <p:cNvCxnSpPr/>
          <p:nvPr/>
        </p:nvCxnSpPr>
        <p:spPr>
          <a:xfrm>
            <a:off x="6610700" y="2741600"/>
            <a:ext cx="311700" cy="33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2" name="Google Shape;62;p2"/>
          <p:cNvCxnSpPr/>
          <p:nvPr/>
        </p:nvCxnSpPr>
        <p:spPr>
          <a:xfrm flipH="1">
            <a:off x="6185550" y="3516925"/>
            <a:ext cx="1238100" cy="428400"/>
          </a:xfrm>
          <a:prstGeom prst="straightConnector1">
            <a:avLst/>
          </a:prstGeom>
          <a:noFill/>
          <a:ln w="28575" cap="flat" cmpd="sng">
            <a:solidFill>
              <a:srgbClr val="E9456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63;p2"/>
          <p:cNvCxnSpPr/>
          <p:nvPr/>
        </p:nvCxnSpPr>
        <p:spPr>
          <a:xfrm>
            <a:off x="7775350" y="3503463"/>
            <a:ext cx="0" cy="354000"/>
          </a:xfrm>
          <a:prstGeom prst="straightConnector1">
            <a:avLst/>
          </a:prstGeom>
          <a:noFill/>
          <a:ln w="28575" cap="flat" cmpd="sng">
            <a:solidFill>
              <a:srgbClr val="E9456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Trois approches, trois époques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Exposer données via le réseau de trois façons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différentes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31520" y="164592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31520" y="164592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960120" y="1828800"/>
            <a:ext cx="59436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60120" y="182880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1998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7360" y="181051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/>
          <p:nvPr/>
        </p:nvSpPr>
        <p:spPr>
          <a:xfrm>
            <a:off x="2377440" y="1691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377440" y="202996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Simple Object Access Protocol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754880" y="169164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 XML avec contrat formel (WSDL). Intégration entre systèmes hétérogènes en entreprise (Java ↔ .NET ↔ mainframes).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1520" y="269748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731520" y="2697480"/>
            <a:ext cx="64008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60120" y="2880360"/>
            <a:ext cx="5943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960120" y="288036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2000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7360" y="286207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2377440" y="27432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377440" y="308152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REpresentational State Transfer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754880" y="274320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Style architectural basé sur HTTP. Ressources avec URIs, verbes HTTP sémantiques, réponses cacheables. Thèse de Roy Fielding.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1520" y="3749040"/>
            <a:ext cx="7680960" cy="86868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731520" y="3749040"/>
            <a:ext cx="64008" cy="86868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60120" y="3931920"/>
            <a:ext cx="594360" cy="4572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960120" y="3931920"/>
            <a:ext cx="594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 Black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2012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37360" y="3913632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2377440" y="37947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377440" y="41330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Graph Query Language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54880" y="3794760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Langage de requête. Créé par Facebook pour alimenter le News Feed mobile en un seul appel.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3" name="Google Shape;10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Simple Object Access Protocol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concept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d'échange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de messages XML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indépendant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du transport et du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langage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731520" y="155448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737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645920" y="160020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Tout passe par </a:t>
            </a:r>
            <a:r>
              <a:rPr lang="en-US" sz="1400" b="1" i="0" u="none" strike="noStrike" cap="none" dirty="0" err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400" b="1" i="0" u="none" strike="noStrike" cap="none" dirty="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i="0" u="none" strike="noStrike" cap="none" dirty="0" err="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enveloppe</a:t>
            </a:r>
            <a:r>
              <a:rPr lang="en-US" sz="1400" b="1" i="0" u="none" strike="noStrike" cap="none" dirty="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 XML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645920" y="190195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message est une enveloppe standardisée : Header (sécurité, routing) + Body (opération + paramètres). Le format est identique quel que soit le transport (HTTP, SMTP, JMS).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31520" y="265176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1520" y="265176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834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1645920" y="269748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Contrat formel : le WSDL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1645920" y="299923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service est décrit dans un fichier WSDL : opérations disponibles, types de données (XML Schema), protocole de transport. Les clients sont générés automatiquement à partir du contrat.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31520" y="3749040"/>
            <a:ext cx="6400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39319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1645920" y="379476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Sécurité au niveau du message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645920" y="4096512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 : signature et chiffrement dans le message lui-même (pas juste TLS). Le message reste protégé même à travers des intermédiaires. Standard dans la banque et la santé.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L'enveloppe XML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31520" y="1097280"/>
            <a:ext cx="3840480" cy="3474720"/>
          </a:xfrm>
          <a:prstGeom prst="rect">
            <a:avLst/>
          </a:prstGeom>
          <a:solidFill>
            <a:srgbClr val="2D2D44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31520" y="11430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Enveloppe SOAP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97280" y="1645920"/>
            <a:ext cx="3108960" cy="914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188720" y="166420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Header (optionnel)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88720" y="1938528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WS-Security, routing, transactions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2697480"/>
            <a:ext cx="3108960" cy="155448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188720" y="2715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88720" y="2990088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Opération + paramètres typés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463040" y="3703320"/>
            <a:ext cx="2377440" cy="411480"/>
          </a:xfrm>
          <a:prstGeom prst="rect">
            <a:avLst/>
          </a:prstGeom>
          <a:solidFill>
            <a:srgbClr val="4A20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463040" y="37033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Fault (erreurs structurées)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Exemple : GetBook(1)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029200" y="155448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&lt;?xml version="1.0"?&gt;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&lt;soap:Envelope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xmlns:soap="...soap/envelope"&gt;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&lt;soap:Header&gt;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&lt;wsse:Security&gt;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&lt;!-- token, signature --&gt;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&lt;/wsse:Security&gt;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&lt;/soap:Header&gt;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&lt;soap:Body&gt;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&lt;GetBook xmlns="..."&gt;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&lt;id&gt;1&lt;/id&gt;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&lt;/GetBook&gt;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&lt;/soap:Body&gt;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&lt;/soap:Envelope&gt;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5c87d4c66_0_0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95c87d4c66_0_0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95c87d4c66_0_0"/>
          <p:cNvSpPr/>
          <p:nvPr/>
        </p:nvSpPr>
        <p:spPr>
          <a:xfrm>
            <a:off x="731520" y="100584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Web Services Description Language : le </a:t>
            </a:r>
            <a:r>
              <a:rPr lang="en-US" sz="13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contrat</a:t>
            </a:r>
            <a:r>
              <a:rPr lang="en-US" sz="13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machine-readable du service.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95c87d4c66_0_0"/>
          <p:cNvSpPr/>
          <p:nvPr/>
        </p:nvSpPr>
        <p:spPr>
          <a:xfrm>
            <a:off x="73152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95c87d4c66_0_0"/>
          <p:cNvSpPr/>
          <p:nvPr/>
        </p:nvSpPr>
        <p:spPr>
          <a:xfrm>
            <a:off x="731520" y="1554480"/>
            <a:ext cx="1828800" cy="549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95c87d4c66_0_0"/>
          <p:cNvSpPr/>
          <p:nvPr/>
        </p:nvSpPr>
        <p:spPr>
          <a:xfrm>
            <a:off x="73152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Arial Black"/>
                <a:ea typeface="Arial Black"/>
                <a:cs typeface="Arial Black"/>
                <a:sym typeface="Arial Black"/>
              </a:rPr>
              <a:t>Types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5c87d4c66_0_0"/>
          <p:cNvSpPr/>
          <p:nvPr/>
        </p:nvSpPr>
        <p:spPr>
          <a:xfrm>
            <a:off x="82296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Structures de données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(XML Schema).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Ex: Book { id, title, year 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95c87d4c66_0_0"/>
          <p:cNvSpPr/>
          <p:nvPr/>
        </p:nvSpPr>
        <p:spPr>
          <a:xfrm>
            <a:off x="274320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95c87d4c66_0_0"/>
          <p:cNvSpPr/>
          <p:nvPr/>
        </p:nvSpPr>
        <p:spPr>
          <a:xfrm>
            <a:off x="2743200" y="1554480"/>
            <a:ext cx="1828800" cy="54900"/>
          </a:xfrm>
          <a:prstGeom prst="rect">
            <a:avLst/>
          </a:prstGeom>
          <a:solidFill>
            <a:srgbClr val="D474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95c87d4c66_0_0"/>
          <p:cNvSpPr/>
          <p:nvPr/>
        </p:nvSpPr>
        <p:spPr>
          <a:xfrm>
            <a:off x="274320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474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D4740C"/>
                </a:solidFill>
                <a:latin typeface="Arial Black"/>
                <a:ea typeface="Arial Black"/>
                <a:cs typeface="Arial Black"/>
                <a:sym typeface="Arial Black"/>
              </a:rPr>
              <a:t>Messages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95c87d4c66_0_0"/>
          <p:cNvSpPr/>
          <p:nvPr/>
        </p:nvSpPr>
        <p:spPr>
          <a:xfrm>
            <a:off x="283464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Entrées/sorties 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opération.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GetBookRequest(id: int)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95c87d4c66_0_0"/>
          <p:cNvSpPr/>
          <p:nvPr/>
        </p:nvSpPr>
        <p:spPr>
          <a:xfrm>
            <a:off x="475488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95c87d4c66_0_0"/>
          <p:cNvSpPr/>
          <p:nvPr/>
        </p:nvSpPr>
        <p:spPr>
          <a:xfrm>
            <a:off x="4754880" y="1554480"/>
            <a:ext cx="1828800" cy="54900"/>
          </a:xfrm>
          <a:prstGeom prst="rect">
            <a:avLst/>
          </a:prstGeom>
          <a:solidFill>
            <a:srgbClr val="E5A2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95c87d4c66_0_0"/>
          <p:cNvSpPr/>
          <p:nvPr/>
        </p:nvSpPr>
        <p:spPr>
          <a:xfrm>
            <a:off x="4754880" y="169164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A2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E5A20C"/>
                </a:solidFill>
                <a:latin typeface="Arial Black"/>
                <a:ea typeface="Arial Black"/>
                <a:cs typeface="Arial Black"/>
                <a:sym typeface="Arial Black"/>
              </a:rPr>
              <a:t>Port Types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95c87d4c66_0_0"/>
          <p:cNvSpPr/>
          <p:nvPr/>
        </p:nvSpPr>
        <p:spPr>
          <a:xfrm>
            <a:off x="484632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Interface abstraite 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les opérations dispo.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≈ interface Java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95c87d4c66_0_0"/>
          <p:cNvSpPr/>
          <p:nvPr/>
        </p:nvSpPr>
        <p:spPr>
          <a:xfrm>
            <a:off x="6766560" y="1554480"/>
            <a:ext cx="1828800" cy="18288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95c87d4c66_0_0"/>
          <p:cNvSpPr/>
          <p:nvPr/>
        </p:nvSpPr>
        <p:spPr>
          <a:xfrm>
            <a:off x="6766560" y="1554480"/>
            <a:ext cx="1828800" cy="54900"/>
          </a:xfrm>
          <a:prstGeom prst="rect">
            <a:avLst/>
          </a:prstGeom>
          <a:solidFill>
            <a:srgbClr val="F5C80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395c87d4c66_0_0"/>
          <p:cNvSpPr/>
          <p:nvPr/>
        </p:nvSpPr>
        <p:spPr>
          <a:xfrm>
            <a:off x="6766550" y="1673400"/>
            <a:ext cx="1874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C80C"/>
              </a:buClr>
              <a:buSzPts val="1400"/>
              <a:buFont typeface="Arial Black"/>
              <a:buNone/>
            </a:pPr>
            <a:r>
              <a:rPr lang="en-US" sz="1400" b="0" i="0" u="none" strike="noStrike" cap="none">
                <a:solidFill>
                  <a:srgbClr val="F5C80C"/>
                </a:solidFill>
                <a:latin typeface="Arial Black"/>
                <a:ea typeface="Arial Black"/>
                <a:cs typeface="Arial Black"/>
                <a:sym typeface="Arial Black"/>
              </a:rPr>
              <a:t>Bindings &amp; Service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95c87d4c66_0_0"/>
          <p:cNvSpPr/>
          <p:nvPr/>
        </p:nvSpPr>
        <p:spPr>
          <a:xfrm>
            <a:off x="6858000" y="2103120"/>
            <a:ext cx="164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Protocole concret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(SOAP/HTTP) + encodage.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Lie l'abstrait au transport.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95c87d4c66_0_0"/>
          <p:cNvSpPr/>
          <p:nvPr/>
        </p:nvSpPr>
        <p:spPr>
          <a:xfrm>
            <a:off x="731520" y="3657600"/>
            <a:ext cx="7680900" cy="10974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95c87d4c66_0_0"/>
          <p:cNvSpPr/>
          <p:nvPr/>
        </p:nvSpPr>
        <p:spPr>
          <a:xfrm>
            <a:off x="731520" y="3657600"/>
            <a:ext cx="63900" cy="1097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95c87d4c66_0_0"/>
          <p:cNvSpPr/>
          <p:nvPr/>
        </p:nvSpPr>
        <p:spPr>
          <a:xfrm>
            <a:off x="1005840" y="3703320"/>
            <a:ext cx="2743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Contract-first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95c87d4c66_0_0"/>
          <p:cNvSpPr/>
          <p:nvPr/>
        </p:nvSpPr>
        <p:spPr>
          <a:xfrm>
            <a:off x="1005840" y="4023360"/>
            <a:ext cx="72237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contrat (WSDL) existe avant le code. Un outil génère automatiquement les classes client dans n'importe quel langage. Le développeur appelle des méthodes typée</a:t>
            </a:r>
            <a:r>
              <a:rPr lang="en-US" sz="1150">
                <a:solidFill>
                  <a:srgbClr val="A0AEC0"/>
                </a:solidFill>
              </a:rPr>
              <a:t>s</a:t>
            </a: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 Deux organisations intègrent leurs systèmes juste en échangeant un WSDL.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63476" y="1391713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46350" y="1391718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Types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3475" y="1757488"/>
            <a:ext cx="44877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65975" y="1757488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&lt;types&gt;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&lt;xsd:complexType name="Author"&gt;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&lt;xsd:sequence&gt;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name="Id"   type="xsd:int"/&gt;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name="Name" type="xsd:string"/&gt;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name="Bio"  type="xsd:string" 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&lt;xsd:element name="Nationality" type="xsd:string"/&gt;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&lt;/xsd:sequence&gt;	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&lt;/xsd:complexType&gt;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&lt;/types&gt;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2150" y="1391713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25025" y="1391705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Messages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2150" y="1757488"/>
            <a:ext cx="37104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44650" y="1757488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&lt;message name="GetAuthorRequest"&gt;  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&lt;part name="AuthorId" type="xsd:int"/&gt;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&lt;/message&gt;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&lt;message name="GetAuthorResponse"&gt;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&lt;part name="Author"   type="tns:Author"/&gt;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&lt;/message&gt;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5c986e606_0_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95c986e606_0_1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Le WSDL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95c986e606_0_1"/>
          <p:cNvSpPr/>
          <p:nvPr/>
        </p:nvSpPr>
        <p:spPr>
          <a:xfrm>
            <a:off x="368800" y="1391733"/>
            <a:ext cx="36081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95c986e606_0_1"/>
          <p:cNvSpPr/>
          <p:nvPr/>
        </p:nvSpPr>
        <p:spPr>
          <a:xfrm>
            <a:off x="546640" y="1391725"/>
            <a:ext cx="3378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5c986e606_0_1"/>
          <p:cNvSpPr/>
          <p:nvPr/>
        </p:nvSpPr>
        <p:spPr>
          <a:xfrm>
            <a:off x="368800" y="1757499"/>
            <a:ext cx="3608100" cy="255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95c986e606_0_1"/>
          <p:cNvSpPr/>
          <p:nvPr/>
        </p:nvSpPr>
        <p:spPr>
          <a:xfrm>
            <a:off x="468478" y="1757506"/>
            <a:ext cx="3517200" cy="23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&lt;portType name="BookCatalogPortType"&gt;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&lt;operation name="GetAuthor"&gt;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&lt;input message="tns:GetAuthorRequest"/&gt;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&lt;output message="tns:GetAuthorResponse"/&gt;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&lt;/operation&gt;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&lt;/portType&gt;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g395c986e606_0_1"/>
          <p:cNvSpPr/>
          <p:nvPr/>
        </p:nvSpPr>
        <p:spPr>
          <a:xfrm>
            <a:off x="4170125" y="1391733"/>
            <a:ext cx="48345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95c986e606_0_1"/>
          <p:cNvSpPr/>
          <p:nvPr/>
        </p:nvSpPr>
        <p:spPr>
          <a:xfrm>
            <a:off x="4408416" y="1391725"/>
            <a:ext cx="452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onsolas"/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Bindings &amp; service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95c986e606_0_1"/>
          <p:cNvSpPr/>
          <p:nvPr/>
        </p:nvSpPr>
        <p:spPr>
          <a:xfrm>
            <a:off x="4170125" y="1757499"/>
            <a:ext cx="4834500" cy="2556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95c986e606_0_1"/>
          <p:cNvSpPr/>
          <p:nvPr/>
        </p:nvSpPr>
        <p:spPr>
          <a:xfrm>
            <a:off x="4164275" y="1757500"/>
            <a:ext cx="4846200" cy="29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&lt;binding name="BookCatalogBinding" type="tns:BookCatalogPortType"&gt;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&lt;soap:binding style="document"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transport="</a:t>
            </a:r>
            <a:r>
              <a:rPr lang="en-US" sz="1050">
                <a:solidFill>
                  <a:schemeClr val="lt1"/>
                </a:solidFill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http://schemas.xmlsoap.org/soap/http</a:t>
            </a: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&lt;operation name="GetAuthor"&gt;      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&lt;soap:operation soapAction="GetAuthor"/&gt;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&lt;/operation&gt;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&lt;/binding&gt;		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&lt;service name="BookCatalogService"&gt;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&lt;port name="BookCatalogPort" binding="tns:BookCatalogBinding"&gt;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&lt;soap:address location="http://localhost:3000/soap"/&gt;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&lt;/port&gt;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&lt;/service&gt;</a:t>
            </a: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endParaRPr sz="10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SOAP — Bilan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3152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Quand l'utiliser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4356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/>
          <p:nvPr/>
        </p:nvSpPr>
        <p:spPr>
          <a:xfrm>
            <a:off x="1051560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Banque, santé, défense — WS-Security est un standard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819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/>
          <p:nvPr/>
        </p:nvSpPr>
        <p:spPr>
          <a:xfrm>
            <a:off x="1051560" y="1801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Transactions distribuées entre services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22037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/>
          <p:nvPr/>
        </p:nvSpPr>
        <p:spPr>
          <a:xfrm>
            <a:off x="1051560" y="21854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Intégration B2B formelle (échange de WSDL)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25877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>
            <a:off x="1051560" y="256946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Écosystème entreprise (Java EE, .NET, SAP)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Limites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143560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5166360" y="1417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Verbosité XML — enveloppe &gt; donnée utile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181965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/>
          <p:nvPr/>
        </p:nvSpPr>
        <p:spPr>
          <a:xfrm>
            <a:off x="5166360" y="1801368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Complexité de la stack WS-*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2203704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166360" y="2185416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seul endpoint POST → pas de cache HTTP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6320" y="25877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5166360" y="2569464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Mal adapté au web moderne et au mobile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Arial"/>
              <a:buNone/>
            </a:pPr>
            <a:r>
              <a:rPr lang="en-US" sz="12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Début 2000, SOAP est </a:t>
            </a:r>
            <a:r>
              <a:rPr lang="en-US" sz="12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omniprésent</a:t>
            </a:r>
            <a:r>
              <a:rPr lang="en-US" sz="12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 Mais le Web </a:t>
            </a:r>
            <a:r>
              <a:rPr lang="en-US" sz="12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évolue</a:t>
            </a:r>
            <a:r>
              <a:rPr lang="en-US" sz="12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, et un style plus simple </a:t>
            </a:r>
            <a:r>
              <a:rPr lang="en-US" sz="12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émerge</a:t>
            </a:r>
            <a:r>
              <a:rPr lang="en-US" sz="12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...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REpresentational State Transfer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— Les principes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A0AEC0"/>
                </a:solidFill>
              </a:rPr>
              <a:t>U</a:t>
            </a:r>
            <a:r>
              <a:rPr lang="en-US" sz="13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 ensemble de principes d'architecture pour des APIs web qui s'intègrent naturellement à HTTP.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731520" y="173736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731520" y="173736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892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1645920" y="175564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Découpe par ressources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645920" y="20574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 entité (users, books, posts) a sa propre URL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731520" y="274320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" name="Google Shape;26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8986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1645920" y="276148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S'appuyer sur les normes HTTP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645920" y="30632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Verbes (GET, POST, PUT, DELETE) et codes de retour (2XX, 4XX, 5XX) ont une sémantique standard. Pas besoin de réinventer.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731520" y="3749040"/>
            <a:ext cx="64008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5" name="Google Shape;26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3904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0"/>
          <p:cNvSpPr/>
          <p:nvPr/>
        </p:nvSpPr>
        <p:spPr>
          <a:xfrm>
            <a:off x="1645920" y="3767328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Stateless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645920" y="406908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Pas de mémoire des anciennes requêtes. Chaque requête contient tout son contexte (token, paramètres). Permet le scaling horizontal.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— Ressources, verbes, codes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Nomenclature des URLs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57200" y="1371600"/>
            <a:ext cx="4023360" cy="23774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640080" y="14630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Collection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Ressource unique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authors</a:t>
            </a: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11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stephen-king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/api/v1/books/42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 Sous-ressources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 /api/v1/books/42/reviews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Verbes HTTP = CRUD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4754880" y="1463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943600" y="14630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Restitution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754880" y="2011680"/>
            <a:ext cx="10972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754880" y="20116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94360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Création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4754880" y="25603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PUT/PATCH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943600" y="25603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Modification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754880" y="3108960"/>
            <a:ext cx="109728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4754880" y="31089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DELETE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5943600" y="31089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Suppression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Codes HTTP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4343400"/>
            <a:ext cx="5029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4572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2XX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10058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Succès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10058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200 OK · 201 Created · 204 No Content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32004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3200400" y="4343400"/>
            <a:ext cx="5029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32004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4XX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37490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Erreur client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37490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400 Bad Request · 401 Unauthorized · 404 Not Found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943600" y="4343400"/>
            <a:ext cx="26060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5943600" y="4343400"/>
            <a:ext cx="502920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5943600" y="4343400"/>
            <a:ext cx="502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5XX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92240" y="434340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Erreur serveur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492240" y="461772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850"/>
              <a:buFont typeface="Consolas"/>
              <a:buNone/>
            </a:pPr>
            <a:r>
              <a:rPr lang="en-US" sz="850" b="0" i="0" u="none" strike="noStrike" cap="none">
                <a:solidFill>
                  <a:srgbClr val="A0AEC0"/>
                </a:solidFill>
                <a:latin typeface="Consolas"/>
                <a:ea typeface="Consolas"/>
                <a:cs typeface="Consolas"/>
                <a:sym typeface="Consolas"/>
              </a:rPr>
              <a:t>500 Internal Error · 503 Service Unavailable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2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</a:t>
            </a:r>
            <a:r>
              <a:rPr lang="en-US" sz="2800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HATEOAS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2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B82F6"/>
                </a:solidFill>
                <a:latin typeface="Arial"/>
                <a:ea typeface="Arial"/>
                <a:cs typeface="Arial"/>
                <a:sym typeface="Arial"/>
              </a:rPr>
              <a:t>HATEOAS — le niveau ultime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57200" y="1371599"/>
            <a:ext cx="4023360" cy="2315145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640080" y="1417320"/>
            <a:ext cx="3657600" cy="2179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"id": 42,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"title": "Foundation",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"_links": {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"self":    "/books/42",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"author":  "/authors/1",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"reviews": "/books/42/reviews"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457200" y="3686745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Les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réponses</a:t>
            </a: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contiennent</a:t>
            </a: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des liens vers les actions possibles.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Très peu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utilisé</a:t>
            </a: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</a:t>
            </a:r>
            <a:r>
              <a:rPr lang="en-US" sz="10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pratique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488397" y="914400"/>
            <a:ext cx="2585100" cy="640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488395" y="91439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488395" y="91439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311355" y="91439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HATEOAS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488397" y="1737359"/>
            <a:ext cx="2585100" cy="6402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488395" y="173735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5488395" y="173735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311355" y="173735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Verbes HTTP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488397" y="2560317"/>
            <a:ext cx="2585100" cy="6402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488395" y="256031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488395" y="256031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311355" y="256031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5488397" y="3383276"/>
            <a:ext cx="2585100" cy="640200"/>
          </a:xfrm>
          <a:prstGeom prst="rect">
            <a:avLst/>
          </a:prstGeom>
          <a:solidFill>
            <a:srgbClr val="1E3A8A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5488395" y="3383270"/>
            <a:ext cx="640200" cy="640200"/>
          </a:xfrm>
          <a:prstGeom prst="rect">
            <a:avLst/>
          </a:prstGeom>
          <a:solidFill>
            <a:srgbClr val="0D254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488395" y="338327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-US" sz="2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311355" y="3383270"/>
            <a:ext cx="2286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RPC sur HTTP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665425" y="4088683"/>
            <a:ext cx="4023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r>
              <a:rPr lang="en-US" sz="1550" b="1">
                <a:solidFill>
                  <a:srgbClr val="A0AEC0"/>
                </a:solidFill>
              </a:rPr>
              <a:t>Richardson Maturity Model</a:t>
            </a:r>
            <a:endParaRPr sz="155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d517ccf59_0_5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3cd517ccf59_0_5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REST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L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imites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cd517ccf59_0_5"/>
          <p:cNvSpPr/>
          <p:nvPr/>
        </p:nvSpPr>
        <p:spPr>
          <a:xfrm>
            <a:off x="2606105" y="1063040"/>
            <a:ext cx="3931800" cy="32010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3cd517ccf59_0_5"/>
          <p:cNvSpPr/>
          <p:nvPr/>
        </p:nvSpPr>
        <p:spPr>
          <a:xfrm>
            <a:off x="2788985" y="106304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Le problème : over/under-fetching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g3cd517ccf59_0_5"/>
          <p:cNvSpPr/>
          <p:nvPr/>
        </p:nvSpPr>
        <p:spPr>
          <a:xfrm>
            <a:off x="2606105" y="1428800"/>
            <a:ext cx="393180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g3cd517ccf59_0_5"/>
          <p:cNvSpPr/>
          <p:nvPr/>
        </p:nvSpPr>
        <p:spPr>
          <a:xfrm>
            <a:off x="2788985" y="1474520"/>
            <a:ext cx="3566100" cy="1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Pour 1 page "fiche livre" :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reçoit isbn, pages... (inutile)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/authors/1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2e requête pour l'auteur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/books/42/reviews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→ 3e requête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3 requêtes, données en trop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cd517ccf59_0_5"/>
          <p:cNvSpPr/>
          <p:nvPr/>
        </p:nvSpPr>
        <p:spPr>
          <a:xfrm>
            <a:off x="2606105" y="3349040"/>
            <a:ext cx="3931800" cy="73140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cd517ccf59_0_5"/>
          <p:cNvSpPr/>
          <p:nvPr/>
        </p:nvSpPr>
        <p:spPr>
          <a:xfrm>
            <a:off x="2788985" y="3394760"/>
            <a:ext cx="3566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Under-fetching</a:t>
            </a: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: N requêtes pour 1 vue</a:t>
            </a:r>
            <a:b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Over-fetching</a:t>
            </a:r>
            <a:r>
              <a:rPr lang="en-US" sz="11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: chaque réponse a des champs inutiles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cd517ccf59_0_5"/>
          <p:cNvSpPr/>
          <p:nvPr/>
        </p:nvSpPr>
        <p:spPr>
          <a:xfrm>
            <a:off x="457200" y="44348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200"/>
              <a:buFont typeface="Arial"/>
              <a:buNone/>
            </a:pPr>
            <a:r>
              <a:rPr lang="en-US" sz="1200" b="1" i="1" u="none" strike="noStrike" cap="none">
                <a:solidFill>
                  <a:srgbClr val="E535AB"/>
                </a:solidFill>
                <a:latin typeface="Arial"/>
                <a:ea typeface="Arial"/>
                <a:cs typeface="Arial"/>
                <a:sym typeface="Arial"/>
              </a:rPr>
              <a:t>C'est ce problème qui a poussé Facebook à créer GraphQL en 2012.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0" y="1828800"/>
            <a:ext cx="9144000" cy="1463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4" name="Google Shape;36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3360" y="6400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3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4400"/>
              <a:buFont typeface="Arial Black"/>
              <a:buNone/>
            </a:pPr>
            <a:r>
              <a:rPr lang="en-US" sz="4400" b="0" i="0" u="none" strike="noStrike" cap="non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 Query Language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800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 La </a:t>
            </a:r>
            <a:r>
              <a:rPr lang="en-US" sz="2800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problématique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79265" y="1803455"/>
            <a:ext cx="37491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4"/>
          <p:cNvSpPr/>
          <p:nvPr/>
        </p:nvSpPr>
        <p:spPr>
          <a:xfrm>
            <a:off x="579265" y="1803455"/>
            <a:ext cx="37491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6" name="Google Shape;376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145" y="194061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4"/>
          <p:cNvSpPr/>
          <p:nvPr/>
        </p:nvSpPr>
        <p:spPr>
          <a:xfrm>
            <a:off x="1219345" y="1940615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 problème résolu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62145" y="2352095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Facebook 2012 : le News Feed charge des utilisateurs, posts, commentaires, likes, photos</a:t>
            </a:r>
            <a:endParaRPr sz="10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endParaRPr sz="10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Avec GraphQL : 1 requête, 1 réponse</a:t>
            </a:r>
            <a:r>
              <a:rPr lang="en-US" sz="1000">
                <a:solidFill>
                  <a:srgbClr val="A0AEC0"/>
                </a:solidFill>
              </a:rPr>
              <a:t>. L</a:t>
            </a: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 serveur agrège les ressources et renvoie une réponse structurée.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Le client mobile ne gère plus la complexité.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5640" y="1472438"/>
            <a:ext cx="4358584" cy="294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C67CB759-4933-76DC-1BC8-475EBDDF2BD0}"/>
              </a:ext>
            </a:extLst>
          </p:cNvPr>
          <p:cNvSpPr txBox="1"/>
          <p:nvPr/>
        </p:nvSpPr>
        <p:spPr>
          <a:xfrm>
            <a:off x="4665640" y="4420465"/>
            <a:ext cx="4572000" cy="280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fr-FR" sz="1100" dirty="0">
                <a:solidFill>
                  <a:srgbClr val="ABB2BF"/>
                </a:solidFill>
                <a:latin typeface="Menlo" panose="020B0609030804020204" pitchFamily="49" charset="0"/>
              </a:rPr>
              <a:t>Le News </a:t>
            </a:r>
            <a:r>
              <a:rPr lang="fr-FR" sz="1100" dirty="0" err="1">
                <a:solidFill>
                  <a:srgbClr val="ABB2BF"/>
                </a:solidFill>
                <a:latin typeface="Menlo" panose="020B0609030804020204" pitchFamily="49" charset="0"/>
              </a:rPr>
              <a:t>Feed</a:t>
            </a:r>
            <a:r>
              <a:rPr lang="fr-FR" sz="1100" dirty="0">
                <a:solidFill>
                  <a:srgbClr val="ABB2BF"/>
                </a:solidFill>
                <a:latin typeface="Menlo" panose="020B0609030804020204" pitchFamily="49" charset="0"/>
              </a:rPr>
              <a:t> de Facebook en 2012</a:t>
            </a:r>
            <a:r>
              <a:rPr lang="fr-FR" sz="1100" i="1" dirty="0"/>
              <a:t>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d517ccf59_0_2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cd517ccf59_0_23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 concept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cd517ccf59_0_23"/>
          <p:cNvSpPr/>
          <p:nvPr/>
        </p:nvSpPr>
        <p:spPr>
          <a:xfrm>
            <a:off x="731520" y="100584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langage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pour la restitution des données. Le client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envoie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une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qui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définit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exactement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les données </a:t>
            </a:r>
            <a:r>
              <a:rPr lang="en-US" sz="130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retournées</a:t>
            </a:r>
            <a:r>
              <a:rPr lang="en-US" sz="130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d517ccf59_0_23"/>
          <p:cNvSpPr/>
          <p:nvPr/>
        </p:nvSpPr>
        <p:spPr>
          <a:xfrm>
            <a:off x="731520" y="1691640"/>
            <a:ext cx="7680900" cy="54870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3cd517ccf59_0_23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Logique différente de REST : on ne découpe pas par ressources, on définit un modèle de données et des resolvers qui savent aller chercher chaque champ.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cd517ccf59_0_23"/>
          <p:cNvSpPr/>
          <p:nvPr/>
        </p:nvSpPr>
        <p:spPr>
          <a:xfrm>
            <a:off x="1549175" y="2353850"/>
            <a:ext cx="6045600" cy="25575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cd517ccf59_0_23"/>
          <p:cNvSpPr/>
          <p:nvPr/>
        </p:nvSpPr>
        <p:spPr>
          <a:xfrm>
            <a:off x="1549170" y="2428368"/>
            <a:ext cx="36576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cd517ccf59_0_23"/>
          <p:cNvSpPr/>
          <p:nvPr/>
        </p:nvSpPr>
        <p:spPr>
          <a:xfrm>
            <a:off x="1627787" y="2545853"/>
            <a:ext cx="2591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Comment ça marche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g3cd517ccf59_0_23"/>
          <p:cNvSpPr/>
          <p:nvPr/>
        </p:nvSpPr>
        <p:spPr>
          <a:xfrm>
            <a:off x="1627775" y="2928550"/>
            <a:ext cx="5757900" cy="20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Font typeface="Arial"/>
              <a:buAutoNum type="arabicPeriod"/>
            </a:pPr>
            <a:r>
              <a:rPr lang="en-US" sz="1200" b="0" i="0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Définition d'un modèle de données typé (schéma)</a:t>
            </a:r>
            <a:endParaRPr sz="1200" b="0" i="0" u="none" strike="noStrike" cap="none">
              <a:solidFill>
                <a:srgbClr val="A0AEC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0AEC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Pour chaque type, un Resolver définit comment  récupérer la donnée : SQL, API externe, cache…</a:t>
            </a:r>
            <a:endParaRPr sz="1200">
              <a:solidFill>
                <a:srgbClr val="A0AEC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0AEC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Un seul endpoint (POST /graphql), le client précise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A0AEC0"/>
                </a:solidFill>
              </a:rPr>
              <a:t>dans sa requête le format et le type de donnée,     le serveur la résout champ par champ</a:t>
            </a:r>
            <a:endParaRPr sz="1200">
              <a:solidFill>
                <a:srgbClr val="A0AEC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0AEC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200"/>
              <a:buAutoNum type="arabicPeriod"/>
            </a:pPr>
            <a:r>
              <a:rPr lang="en-US" sz="1200">
                <a:solidFill>
                  <a:srgbClr val="A0AEC0"/>
                </a:solidFill>
              </a:rPr>
              <a:t>Introspection : le client peut interroger le schéma</a:t>
            </a:r>
            <a:endParaRPr sz="120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endParaRPr sz="1200">
              <a:solidFill>
                <a:srgbClr val="A0AEC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— Schéma et resolvers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Le schéma (SDL)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57200" y="1371599"/>
            <a:ext cx="3931920" cy="2641181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640080" y="1463040"/>
            <a:ext cx="3566160" cy="2443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 Book {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id: ID!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title: String!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year: Int!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author: Author!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reviews: [Review!]!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 Query {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ID!): Book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books(limit: Int): [Book!]!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lang="en-US" sz="110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La requête client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663440" y="1371600"/>
            <a:ext cx="4023360" cy="150875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4846320" y="1498185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query {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"42") {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{ name 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{ rating 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onsolas"/>
              <a:buNone/>
            </a:pPr>
            <a:r>
              <a:rPr lang="en-US" sz="11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663440" y="2926080"/>
            <a:ext cx="4023360" cy="320040"/>
          </a:xfrm>
          <a:prstGeom prst="rect">
            <a:avLst/>
          </a:prstGeom>
          <a:solidFill>
            <a:srgbClr val="3D15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4846320" y="2926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E535AB"/>
                </a:solidFill>
                <a:latin typeface="Consolas"/>
                <a:ea typeface="Consolas"/>
                <a:cs typeface="Consolas"/>
                <a:sym typeface="Consolas"/>
              </a:rPr>
              <a:t>Le resolver (côté serveur)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663450" y="3291849"/>
            <a:ext cx="4023300" cy="1491747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4846300" y="34184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Chaque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champ a un resolver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Book: {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author: (book) =&gt;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db.get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("SELECT * FROM authors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WHERE id = ?",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book.author_id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reviews: (book) =&gt;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db.all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("SELECT * FROM reviews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WHERE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book_id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?", </a:t>
            </a:r>
            <a:r>
              <a:rPr lang="en-US" sz="9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book.id</a:t>
            </a: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onsolas"/>
              <a:buNone/>
            </a:pPr>
            <a:r>
              <a:rPr lang="en-US" sz="9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457200" y="4326396"/>
            <a:ext cx="3931920" cy="45720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640080" y="4326396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200" b="1" i="0" u="none" strike="noStrike" cap="none" dirty="0" err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 HTTP → </a:t>
            </a:r>
            <a:r>
              <a:rPr lang="en-US" sz="1200" b="1" i="0" u="none" strike="noStrike" cap="none" dirty="0" err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exactement</a:t>
            </a:r>
            <a:r>
              <a:rPr lang="en-US" sz="1200" b="1" i="0" u="none" strike="noStrike" cap="none" dirty="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 les données </a:t>
            </a:r>
            <a:r>
              <a:rPr lang="en-US" sz="1200" b="1" i="0" u="none" strike="noStrike" cap="none" dirty="0" err="1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demandées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6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— Le problème N+1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300"/>
              <a:buFont typeface="Arial"/>
              <a:buNone/>
            </a:pPr>
            <a:r>
              <a:rPr lang="en-US" sz="13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Chaque</a:t>
            </a:r>
            <a:r>
              <a:rPr lang="en-US" sz="13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resolver est </a:t>
            </a:r>
            <a:r>
              <a:rPr lang="en-US" sz="13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indépendant</a:t>
            </a:r>
            <a:r>
              <a:rPr lang="en-US" sz="13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et fait sa propre </a:t>
            </a:r>
            <a:r>
              <a:rPr lang="en-US" sz="13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requête</a:t>
            </a:r>
            <a:r>
              <a:rPr lang="en-US" sz="13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SQL.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57200" y="1417320"/>
            <a:ext cx="3931920" cy="320040"/>
          </a:xfrm>
          <a:prstGeom prst="rect">
            <a:avLst/>
          </a:prstGeom>
          <a:solidFill>
            <a:srgbClr val="3B1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6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onsolas"/>
                <a:ea typeface="Consolas"/>
                <a:cs typeface="Consolas"/>
                <a:sym typeface="Consolas"/>
              </a:rPr>
              <a:t>Sans DataLoader (naïf)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57200" y="1783079"/>
            <a:ext cx="3931920" cy="263777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6"/>
          <p:cNvSpPr/>
          <p:nvPr/>
        </p:nvSpPr>
        <p:spPr>
          <a:xfrm>
            <a:off x="640080" y="1874520"/>
            <a:ext cx="3566160" cy="244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books(limit:5) { author { name } }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books LIMIT 5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id=1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id=2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id=3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id=4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→ SELECT * FROM authors WHERE id=5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1 + N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requêtes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solidFill>
            <a:srgbClr val="1A3D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6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Avec DataLoader (batch)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4754875" y="1783074"/>
            <a:ext cx="3931800" cy="2637785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937760" y="1874519"/>
            <a:ext cx="3566160" cy="244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loader = new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DataLoader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async (ids) =&gt; {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const rows =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db.all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`SELECT * FROM authors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WHERE id IN (${ids})`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ids.map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(id =&gt;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rows.find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(a =&gt;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a.id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=== id)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);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 2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requêtes</a:t>
            </a:r>
            <a:r>
              <a:rPr lang="en-US" sz="1050" b="0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SQL </a:t>
            </a:r>
            <a:r>
              <a:rPr lang="en-US" sz="1050" b="0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seulement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d5e56ee05_0_6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3cd5e56ee05_0_63"/>
          <p:cNvSpPr/>
          <p:nvPr/>
        </p:nvSpPr>
        <p:spPr>
          <a:xfrm>
            <a:off x="731520" y="274320"/>
            <a:ext cx="76809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GraphQL 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-</a:t>
            </a: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L</a:t>
            </a:r>
            <a:r>
              <a:rPr lang="en-US" sz="28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es Inconvénients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cd5e56ee05_0_63"/>
          <p:cNvSpPr/>
          <p:nvPr/>
        </p:nvSpPr>
        <p:spPr>
          <a:xfrm>
            <a:off x="1549200" y="1510475"/>
            <a:ext cx="6045600" cy="255750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cd5e56ee05_0_63"/>
          <p:cNvSpPr/>
          <p:nvPr/>
        </p:nvSpPr>
        <p:spPr>
          <a:xfrm>
            <a:off x="1549195" y="1584993"/>
            <a:ext cx="3657600" cy="5490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g3cd5e56ee05_0_63"/>
          <p:cNvSpPr/>
          <p:nvPr/>
        </p:nvSpPr>
        <p:spPr>
          <a:xfrm>
            <a:off x="1549200" y="1763850"/>
            <a:ext cx="5757900" cy="25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 dirty="0">
                <a:solidFill>
                  <a:srgbClr val="A0AEC0"/>
                </a:solidFill>
              </a:rPr>
              <a:t> Pas de cache HTTP </a:t>
            </a:r>
            <a:r>
              <a:rPr lang="en-US" sz="1100" dirty="0" err="1">
                <a:solidFill>
                  <a:srgbClr val="A0AEC0"/>
                </a:solidFill>
              </a:rPr>
              <a:t>natif</a:t>
            </a:r>
            <a:r>
              <a:rPr lang="en-US" sz="1100" dirty="0">
                <a:solidFill>
                  <a:srgbClr val="A0AEC0"/>
                </a:solidFill>
              </a:rPr>
              <a:t> (tout POST)</a:t>
            </a:r>
            <a:endParaRPr sz="1100" dirty="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 dirty="0">
                <a:solidFill>
                  <a:srgbClr val="A0AEC0"/>
                </a:solidFill>
              </a:rPr>
              <a:t> </a:t>
            </a:r>
            <a:r>
              <a:rPr lang="en-US" sz="1100" dirty="0" err="1">
                <a:solidFill>
                  <a:srgbClr val="A0AEC0"/>
                </a:solidFill>
              </a:rPr>
              <a:t>Attaques</a:t>
            </a:r>
            <a:r>
              <a:rPr lang="en-US" sz="1100" dirty="0">
                <a:solidFill>
                  <a:srgbClr val="A0AEC0"/>
                </a:solidFill>
              </a:rPr>
              <a:t> par query complexity</a:t>
            </a:r>
            <a:endParaRPr sz="1100" dirty="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 dirty="0">
                <a:solidFill>
                  <a:srgbClr val="A0AEC0"/>
                </a:solidFill>
              </a:rPr>
              <a:t>Pas de support </a:t>
            </a:r>
            <a:r>
              <a:rPr lang="en-US" sz="1100" dirty="0" err="1">
                <a:solidFill>
                  <a:srgbClr val="A0AEC0"/>
                </a:solidFill>
              </a:rPr>
              <a:t>natif</a:t>
            </a:r>
            <a:r>
              <a:rPr lang="en-US" sz="1100" dirty="0">
                <a:solidFill>
                  <a:srgbClr val="A0AEC0"/>
                </a:solidFill>
              </a:rPr>
              <a:t> du streaming</a:t>
            </a:r>
            <a:endParaRPr sz="1100" dirty="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 dirty="0">
                <a:solidFill>
                  <a:srgbClr val="A0AEC0"/>
                </a:solidFill>
              </a:rPr>
              <a:t>Plus difficile à </a:t>
            </a:r>
            <a:r>
              <a:rPr lang="en-US" sz="1100" dirty="0" err="1">
                <a:solidFill>
                  <a:srgbClr val="A0AEC0"/>
                </a:solidFill>
              </a:rPr>
              <a:t>monitorer</a:t>
            </a:r>
            <a:r>
              <a:rPr lang="en-US" sz="1100" dirty="0">
                <a:solidFill>
                  <a:srgbClr val="A0AEC0"/>
                </a:solidFill>
              </a:rPr>
              <a:t> et logger </a:t>
            </a:r>
            <a:r>
              <a:rPr lang="en-US" sz="1100" dirty="0" err="1">
                <a:solidFill>
                  <a:srgbClr val="A0AEC0"/>
                </a:solidFill>
              </a:rPr>
              <a:t>que</a:t>
            </a:r>
            <a:r>
              <a:rPr lang="en-US" sz="1100" dirty="0">
                <a:solidFill>
                  <a:srgbClr val="A0AEC0"/>
                </a:solidFill>
              </a:rPr>
              <a:t> REST (pas </a:t>
            </a:r>
            <a:r>
              <a:rPr lang="en-US" sz="1100" dirty="0" err="1">
                <a:solidFill>
                  <a:srgbClr val="A0AEC0"/>
                </a:solidFill>
              </a:rPr>
              <a:t>d'URLs</a:t>
            </a:r>
            <a:r>
              <a:rPr lang="en-US" sz="1100" dirty="0">
                <a:solidFill>
                  <a:srgbClr val="A0AEC0"/>
                </a:solidFill>
              </a:rPr>
              <a:t> </a:t>
            </a:r>
            <a:r>
              <a:rPr lang="en-US" sz="1100" dirty="0" err="1">
                <a:solidFill>
                  <a:srgbClr val="A0AEC0"/>
                </a:solidFill>
              </a:rPr>
              <a:t>standardisées</a:t>
            </a:r>
            <a:r>
              <a:rPr lang="en-US" sz="1100" dirty="0">
                <a:solidFill>
                  <a:srgbClr val="A0AEC0"/>
                </a:solidFill>
              </a:rPr>
              <a:t>)</a:t>
            </a:r>
            <a:endParaRPr sz="1100" dirty="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 dirty="0">
                <a:solidFill>
                  <a:srgbClr val="A0AEC0"/>
                </a:solidFill>
              </a:rPr>
              <a:t>Upload de </a:t>
            </a:r>
            <a:r>
              <a:rPr lang="en-US" sz="1100" dirty="0" err="1">
                <a:solidFill>
                  <a:srgbClr val="A0AEC0"/>
                </a:solidFill>
              </a:rPr>
              <a:t>fichiers</a:t>
            </a:r>
            <a:r>
              <a:rPr lang="en-US" sz="1100" dirty="0">
                <a:solidFill>
                  <a:srgbClr val="A0AEC0"/>
                </a:solidFill>
              </a:rPr>
              <a:t> hors spec</a:t>
            </a:r>
            <a:endParaRPr sz="1100" dirty="0">
              <a:solidFill>
                <a:srgbClr val="A0AEC0"/>
              </a:solidFill>
            </a:endParaRPr>
          </a:p>
          <a:p>
            <a:pPr marL="9144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0AEC0"/>
              </a:solidFill>
            </a:endParaRPr>
          </a:p>
          <a:p>
            <a:pPr marL="457200" lvl="0" indent="-2984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00"/>
              <a:buChar char="●"/>
            </a:pPr>
            <a:r>
              <a:rPr lang="en-US" sz="1100" dirty="0">
                <a:solidFill>
                  <a:srgbClr val="A0AEC0"/>
                </a:solidFill>
              </a:rPr>
              <a:t>Trop </a:t>
            </a:r>
            <a:r>
              <a:rPr lang="en-US" sz="1100" dirty="0" err="1">
                <a:solidFill>
                  <a:srgbClr val="A0AEC0"/>
                </a:solidFill>
              </a:rPr>
              <a:t>complexe</a:t>
            </a:r>
            <a:r>
              <a:rPr lang="en-US" sz="1100" dirty="0">
                <a:solidFill>
                  <a:srgbClr val="A0AEC0"/>
                </a:solidFill>
              </a:rPr>
              <a:t> pour des </a:t>
            </a:r>
            <a:r>
              <a:rPr lang="en-US" sz="1100" dirty="0" err="1">
                <a:solidFill>
                  <a:srgbClr val="A0AEC0"/>
                </a:solidFill>
              </a:rPr>
              <a:t>cas</a:t>
            </a:r>
            <a:r>
              <a:rPr lang="en-US" sz="1100" dirty="0">
                <a:solidFill>
                  <a:srgbClr val="A0AEC0"/>
                </a:solidFill>
              </a:rPr>
              <a:t> </a:t>
            </a:r>
            <a:r>
              <a:rPr lang="en-US" sz="1100" dirty="0" err="1">
                <a:solidFill>
                  <a:srgbClr val="A0AEC0"/>
                </a:solidFill>
              </a:rPr>
              <a:t>simpels</a:t>
            </a:r>
            <a:endParaRPr sz="1100" dirty="0">
              <a:solidFill>
                <a:srgbClr val="A0AEC0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A0AEC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00"/>
              <a:buFont typeface="Arial"/>
              <a:buNone/>
            </a:pPr>
            <a:endParaRPr sz="1100" dirty="0">
              <a:solidFill>
                <a:srgbClr val="A0AEC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Démo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400"/>
              <a:buFont typeface="Arial"/>
              <a:buNone/>
            </a:pP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Même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catalogue de livres avec 3 </a:t>
            </a:r>
            <a:r>
              <a:rPr lang="en-US" sz="1400" b="0" i="1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approches</a:t>
            </a:r>
            <a:r>
              <a:rPr lang="en-US" sz="1400" b="0" i="1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473825" y="1874520"/>
            <a:ext cx="1965960" cy="149629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473825" y="1874520"/>
            <a:ext cx="1965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1177913" y="210312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177913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565265" y="26974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Récupérer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un livre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2622665" y="1874520"/>
            <a:ext cx="1965960" cy="149629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2622665" y="1874520"/>
            <a:ext cx="1965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3326753" y="2103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3326753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2714105" y="26974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Données </a:t>
            </a:r>
            <a:r>
              <a:rPr lang="en-US" sz="14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liées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4771505" y="1874520"/>
            <a:ext cx="1965960" cy="149629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8"/>
          <p:cNvSpPr/>
          <p:nvPr/>
        </p:nvSpPr>
        <p:spPr>
          <a:xfrm>
            <a:off x="4771505" y="1874520"/>
            <a:ext cx="1965960" cy="54864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8"/>
          <p:cNvSpPr/>
          <p:nvPr/>
        </p:nvSpPr>
        <p:spPr>
          <a:xfrm>
            <a:off x="5475593" y="2103120"/>
            <a:ext cx="502920" cy="502920"/>
          </a:xfrm>
          <a:prstGeom prst="ellipse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5475593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4862945" y="26974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 + 1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6920345" y="1874520"/>
            <a:ext cx="1965960" cy="1496291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8"/>
          <p:cNvSpPr/>
          <p:nvPr/>
        </p:nvSpPr>
        <p:spPr>
          <a:xfrm>
            <a:off x="6920345" y="1874520"/>
            <a:ext cx="196596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8"/>
          <p:cNvSpPr/>
          <p:nvPr/>
        </p:nvSpPr>
        <p:spPr>
          <a:xfrm>
            <a:off x="7624433" y="2103120"/>
            <a:ext cx="502920" cy="50292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8"/>
          <p:cNvSpPr/>
          <p:nvPr/>
        </p:nvSpPr>
        <p:spPr>
          <a:xfrm>
            <a:off x="7624433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8"/>
          <p:cNvSpPr/>
          <p:nvPr/>
        </p:nvSpPr>
        <p:spPr>
          <a:xfrm>
            <a:off x="7011785" y="269748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Bilan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8"/>
          <p:cNvSpPr/>
          <p:nvPr/>
        </p:nvSpPr>
        <p:spPr>
          <a:xfrm>
            <a:off x="6995160" y="2743200"/>
            <a:ext cx="17830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050"/>
              <a:buFont typeface="Arial"/>
              <a:buNone/>
            </a:pP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S1 — GetBook(id=1)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71033" y="1625981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53907" y="1625986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SOAP + REST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71032" y="1991756"/>
            <a:ext cx="4487700" cy="26189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73532" y="1991756"/>
            <a:ext cx="4550700" cy="2738942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POST /soap</a:t>
            </a:r>
            <a:endParaRPr lang="en-US"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3 SQL | 4 128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(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retourne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auteur + reviews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complets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/rest/books/1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546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(champs fixes + _links HATEOAS)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9707" y="1625981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32582" y="1625973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9707" y="1991756"/>
            <a:ext cx="3710400" cy="26189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52207" y="1991756"/>
            <a:ext cx="3710400" cy="2738942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minimal :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seulement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certains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champs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book(id: "1") { id title year genre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130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complet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: auteur + reviews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book(id: "1")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 author { name 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{ reviewer rating }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3 SQL | 442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458;p18">
            <a:extLst>
              <a:ext uri="{FF2B5EF4-FFF2-40B4-BE49-F238E27FC236}">
                <a16:creationId xmlns:a16="http://schemas.microsoft.com/office/drawing/2014/main" id="{C9CE1A36-D83E-6ECE-7520-7FA52B75FC42}"/>
              </a:ext>
            </a:extLst>
          </p:cNvPr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Trois APIs, </a:t>
            </a:r>
            <a:r>
              <a:rPr lang="en-US" dirty="0" err="1">
                <a:solidFill>
                  <a:srgbClr val="A0AEC0"/>
                </a:solidFill>
              </a:rPr>
              <a:t>même</a:t>
            </a:r>
            <a:r>
              <a:rPr lang="en-US" dirty="0">
                <a:solidFill>
                  <a:srgbClr val="A0AEC0"/>
                </a:solidFill>
              </a:rPr>
              <a:t> donnée : SOAP </a:t>
            </a:r>
            <a:r>
              <a:rPr lang="en-US" dirty="0" err="1">
                <a:solidFill>
                  <a:srgbClr val="A0AEC0"/>
                </a:solidFill>
              </a:rPr>
              <a:t>renvoie</a:t>
            </a:r>
            <a:r>
              <a:rPr lang="en-US" dirty="0">
                <a:solidFill>
                  <a:srgbClr val="A0AEC0"/>
                </a:solidFill>
              </a:rPr>
              <a:t> tout, REST </a:t>
            </a:r>
            <a:r>
              <a:rPr lang="en-US" dirty="0" err="1">
                <a:solidFill>
                  <a:srgbClr val="A0AEC0"/>
                </a:solidFill>
              </a:rPr>
              <a:t>overfetch</a:t>
            </a:r>
            <a:r>
              <a:rPr lang="en-US" dirty="0">
                <a:solidFill>
                  <a:srgbClr val="A0AEC0"/>
                </a:solidFill>
              </a:rPr>
              <a:t>, </a:t>
            </a: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renvoie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exactement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ce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qu'on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demande</a:t>
            </a:r>
            <a:r>
              <a:rPr lang="en-US" dirty="0">
                <a:solidFill>
                  <a:srgbClr val="A0AEC0"/>
                </a:solidFill>
              </a:rPr>
              <a:t>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S2 — HATEOAS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63476" y="1512626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46350" y="1512631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REST — 3 requêtes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63475" y="1878401"/>
            <a:ext cx="4487700" cy="28749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65975" y="1878401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/rest/books/1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546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/rest/authors/1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242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GET /rest/books/1/reviews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SQL | 657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TOTAL : 3 HTTP, 3 SQL, 1 445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42150" y="1512626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25025" y="1512618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 — 1 requête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42150" y="1878401"/>
            <a:ext cx="3710400" cy="287496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44650" y="1878401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book(id: "1")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 year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name nationality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reviews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reviewer rating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3 SQL | 442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458;p18">
            <a:extLst>
              <a:ext uri="{FF2B5EF4-FFF2-40B4-BE49-F238E27FC236}">
                <a16:creationId xmlns:a16="http://schemas.microsoft.com/office/drawing/2014/main" id="{EF62695D-CEE1-EFE1-0A5A-09B79F2DDDD4}"/>
              </a:ext>
            </a:extLst>
          </p:cNvPr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REST suit </a:t>
            </a:r>
            <a:r>
              <a:rPr lang="en-US" dirty="0" err="1">
                <a:solidFill>
                  <a:srgbClr val="A0AEC0"/>
                </a:solidFill>
              </a:rPr>
              <a:t>ses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propres</a:t>
            </a:r>
            <a:r>
              <a:rPr lang="en-US" dirty="0">
                <a:solidFill>
                  <a:srgbClr val="A0AEC0"/>
                </a:solidFill>
              </a:rPr>
              <a:t> liens : 3 </a:t>
            </a:r>
            <a:r>
              <a:rPr lang="en-US" dirty="0" err="1">
                <a:solidFill>
                  <a:srgbClr val="A0AEC0"/>
                </a:solidFill>
              </a:rPr>
              <a:t>requêtes</a:t>
            </a:r>
            <a:r>
              <a:rPr lang="en-US" dirty="0">
                <a:solidFill>
                  <a:srgbClr val="A0AEC0"/>
                </a:solidFill>
              </a:rPr>
              <a:t> pour </a:t>
            </a:r>
            <a:r>
              <a:rPr lang="en-US" dirty="0" err="1">
                <a:solidFill>
                  <a:srgbClr val="A0AEC0"/>
                </a:solidFill>
              </a:rPr>
              <a:t>reconstituer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ce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que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retourne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en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une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seule</a:t>
            </a:r>
            <a:r>
              <a:rPr lang="en-US" dirty="0">
                <a:solidFill>
                  <a:srgbClr val="A0AEC0"/>
                </a:solidFill>
              </a:rPr>
              <a:t>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S3 —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Problème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N+1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2415488" y="1671316"/>
            <a:ext cx="3060595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2585676" y="1671321"/>
            <a:ext cx="2369664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Sans DataLoader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415487" y="2037091"/>
            <a:ext cx="3060595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513551" y="2037091"/>
            <a:ext cx="2818949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POST /</a:t>
            </a:r>
            <a:r>
              <a:rPr lang="en-US" sz="950" dirty="0" err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SQL: SELECT * FROM books LIMIT 5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id=2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id=2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id=2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 WHERE id=1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6 SQL | 665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772684" y="1671324"/>
            <a:ext cx="3060595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951987" y="1671316"/>
            <a:ext cx="2866091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Avec DataLoader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772684" y="2037099"/>
            <a:ext cx="3060595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870748" y="2037099"/>
            <a:ext cx="2818949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&gt; POST /</a:t>
            </a:r>
            <a:r>
              <a:rPr lang="en-US" sz="950" dirty="0" err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(X-Use-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Dataloader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: true)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SQL: SELECT * FROM books LIMIT 5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SQL: SELECT * FROM authors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       WHERE id IN (1,2)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2 SQL | 665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185;p7">
            <a:extLst>
              <a:ext uri="{FF2B5EF4-FFF2-40B4-BE49-F238E27FC236}">
                <a16:creationId xmlns:a16="http://schemas.microsoft.com/office/drawing/2014/main" id="{33B15241-3037-1BBC-3755-9A2651FFC990}"/>
              </a:ext>
            </a:extLst>
          </p:cNvPr>
          <p:cNvSpPr/>
          <p:nvPr/>
        </p:nvSpPr>
        <p:spPr>
          <a:xfrm>
            <a:off x="412807" y="1671316"/>
            <a:ext cx="1608019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86;p7">
            <a:extLst>
              <a:ext uri="{FF2B5EF4-FFF2-40B4-BE49-F238E27FC236}">
                <a16:creationId xmlns:a16="http://schemas.microsoft.com/office/drawing/2014/main" id="{D6C59992-3B52-62FA-8A06-A6CD61DF69A3}"/>
              </a:ext>
            </a:extLst>
          </p:cNvPr>
          <p:cNvSpPr/>
          <p:nvPr/>
        </p:nvSpPr>
        <p:spPr>
          <a:xfrm>
            <a:off x="582995" y="1671321"/>
            <a:ext cx="1245008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Requête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87;p7">
            <a:extLst>
              <a:ext uri="{FF2B5EF4-FFF2-40B4-BE49-F238E27FC236}">
                <a16:creationId xmlns:a16="http://schemas.microsoft.com/office/drawing/2014/main" id="{93C2174D-A791-28DA-7A2A-872C5FCF77BE}"/>
              </a:ext>
            </a:extLst>
          </p:cNvPr>
          <p:cNvSpPr/>
          <p:nvPr/>
        </p:nvSpPr>
        <p:spPr>
          <a:xfrm>
            <a:off x="412806" y="2037091"/>
            <a:ext cx="1608019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188;p7">
            <a:extLst>
              <a:ext uri="{FF2B5EF4-FFF2-40B4-BE49-F238E27FC236}">
                <a16:creationId xmlns:a16="http://schemas.microsoft.com/office/drawing/2014/main" id="{41D344B7-8FC2-BEFA-38A1-702729A7BF79}"/>
              </a:ext>
            </a:extLst>
          </p:cNvPr>
          <p:cNvSpPr/>
          <p:nvPr/>
        </p:nvSpPr>
        <p:spPr>
          <a:xfrm>
            <a:off x="510870" y="2037091"/>
            <a:ext cx="148106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" name="Google Shape;192;p7">
            <a:extLst>
              <a:ext uri="{FF2B5EF4-FFF2-40B4-BE49-F238E27FC236}">
                <a16:creationId xmlns:a16="http://schemas.microsoft.com/office/drawing/2014/main" id="{D6217C53-B3DB-12A4-3977-E0A866AD7E77}"/>
              </a:ext>
            </a:extLst>
          </p:cNvPr>
          <p:cNvSpPr/>
          <p:nvPr/>
        </p:nvSpPr>
        <p:spPr>
          <a:xfrm>
            <a:off x="455875" y="2088391"/>
            <a:ext cx="1481060" cy="211331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 5)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name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" name="Google Shape;458;p18">
            <a:extLst>
              <a:ext uri="{FF2B5EF4-FFF2-40B4-BE49-F238E27FC236}">
                <a16:creationId xmlns:a16="http://schemas.microsoft.com/office/drawing/2014/main" id="{87703A13-781B-910B-37F9-8B319B04E3D1}"/>
              </a:ext>
            </a:extLst>
          </p:cNvPr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Sans </a:t>
            </a:r>
            <a:r>
              <a:rPr lang="en-US" dirty="0" err="1">
                <a:solidFill>
                  <a:srgbClr val="A0AEC0"/>
                </a:solidFill>
              </a:rPr>
              <a:t>optimisation</a:t>
            </a:r>
            <a:r>
              <a:rPr lang="en-US" dirty="0">
                <a:solidFill>
                  <a:srgbClr val="A0AEC0"/>
                </a:solidFill>
              </a:rPr>
              <a:t>, </a:t>
            </a: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requête</a:t>
            </a:r>
            <a:r>
              <a:rPr lang="en-US" dirty="0">
                <a:solidFill>
                  <a:srgbClr val="A0AEC0"/>
                </a:solidFill>
              </a:rPr>
              <a:t> la base </a:t>
            </a:r>
            <a:r>
              <a:rPr lang="en-US" dirty="0" err="1">
                <a:solidFill>
                  <a:srgbClr val="A0AEC0"/>
                </a:solidFill>
              </a:rPr>
              <a:t>une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fois</a:t>
            </a:r>
            <a:r>
              <a:rPr lang="en-US" dirty="0">
                <a:solidFill>
                  <a:srgbClr val="A0AEC0"/>
                </a:solidFill>
              </a:rPr>
              <a:t> par livre </a:t>
            </a:r>
            <a:r>
              <a:rPr lang="en-US" dirty="0" err="1">
                <a:solidFill>
                  <a:srgbClr val="A0AEC0"/>
                </a:solidFill>
              </a:rPr>
              <a:t>tandis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qu’avec</a:t>
            </a:r>
            <a:r>
              <a:rPr lang="en-US" dirty="0">
                <a:solidFill>
                  <a:srgbClr val="A0AEC0"/>
                </a:solidFill>
              </a:rPr>
              <a:t> le </a:t>
            </a:r>
            <a:r>
              <a:rPr lang="en-US" dirty="0" err="1">
                <a:solidFill>
                  <a:srgbClr val="A0AEC0"/>
                </a:solidFill>
              </a:rPr>
              <a:t>DataLoader</a:t>
            </a:r>
            <a:r>
              <a:rPr lang="en-US" dirty="0">
                <a:solidFill>
                  <a:srgbClr val="A0AEC0"/>
                </a:solidFill>
              </a:rPr>
              <a:t> tout est </a:t>
            </a:r>
            <a:r>
              <a:rPr lang="en-US" dirty="0" err="1">
                <a:solidFill>
                  <a:srgbClr val="A0AEC0"/>
                </a:solidFill>
              </a:rPr>
              <a:t>regroupé</a:t>
            </a:r>
            <a:r>
              <a:rPr lang="en-US" dirty="0">
                <a:solidFill>
                  <a:srgbClr val="A0AEC0"/>
                </a:solidFill>
              </a:rPr>
              <a:t> dans </a:t>
            </a:r>
            <a:r>
              <a:rPr lang="en-US" dirty="0" err="1">
                <a:solidFill>
                  <a:srgbClr val="A0AEC0"/>
                </a:solidFill>
              </a:rPr>
              <a:t>une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seule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requête</a:t>
            </a:r>
            <a:r>
              <a:rPr lang="en-US" dirty="0">
                <a:solidFill>
                  <a:srgbClr val="A0AEC0"/>
                </a:solidFill>
              </a:rPr>
              <a:t> batch.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S4 — Comparaison finale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01261" y="2066252"/>
            <a:ext cx="44877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784135" y="2066257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REST + SOAP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1260" y="2432027"/>
            <a:ext cx="44877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703760" y="2432027"/>
            <a:ext cx="45507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REST (liste + 2 auteurs) :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3 req   4 SQL   2 048 octets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1+N HTTP, assemblage côté client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SOAP GetBooks :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req   2 SQL   1 580 octets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XML verbeux, schéma rigide</a:t>
            </a:r>
            <a:endParaRPr sz="95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5179935" y="2066252"/>
            <a:ext cx="3710400" cy="320100"/>
          </a:xfrm>
          <a:prstGeom prst="rect">
            <a:avLst/>
          </a:prstGeom>
          <a:solidFill>
            <a:srgbClr val="3D2D1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5362810" y="2066244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GraphQL + DataLoader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179935" y="2432027"/>
            <a:ext cx="3710400" cy="22401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5282435" y="2432027"/>
            <a:ext cx="3710400" cy="23427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books(limit: 5) {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id title genre year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author {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name nationality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79C0FF"/>
                </a:solidFill>
                <a:latin typeface="Consolas"/>
                <a:ea typeface="Consolas"/>
                <a:cs typeface="Consolas"/>
                <a:sym typeface="Consolas"/>
              </a:rPr>
              <a:t>  1 req   2 SQL   665 octets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1 HTTP, payload minimal,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exactement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ce</a:t>
            </a:r>
            <a:r>
              <a:rPr lang="en-US" sz="950" dirty="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qui est </a:t>
            </a:r>
            <a:r>
              <a:rPr lang="en-US" sz="950" dirty="0" err="1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demandé</a:t>
            </a:r>
            <a:endParaRPr sz="950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Google Shape;458;p18">
            <a:extLst>
              <a:ext uri="{FF2B5EF4-FFF2-40B4-BE49-F238E27FC236}">
                <a16:creationId xmlns:a16="http://schemas.microsoft.com/office/drawing/2014/main" id="{F0B06E00-A64D-0AF9-BDEF-C91D74BA82E7}"/>
              </a:ext>
            </a:extLst>
          </p:cNvPr>
          <p:cNvSpPr/>
          <p:nvPr/>
        </p:nvSpPr>
        <p:spPr>
          <a:xfrm>
            <a:off x="731520" y="1005839"/>
            <a:ext cx="7680960" cy="90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A0AEC0"/>
              </a:buClr>
              <a:buSzPts val="1400"/>
            </a:pPr>
            <a:r>
              <a:rPr lang="en-US" dirty="0">
                <a:solidFill>
                  <a:srgbClr val="A0AEC0"/>
                </a:solidFill>
              </a:rPr>
              <a:t>Objectif : lister 5 livres avec </a:t>
            </a:r>
            <a:r>
              <a:rPr lang="en-US" dirty="0" err="1">
                <a:solidFill>
                  <a:srgbClr val="A0AEC0"/>
                </a:solidFill>
              </a:rPr>
              <a:t>leur</a:t>
            </a:r>
            <a:r>
              <a:rPr lang="en-US" dirty="0">
                <a:solidFill>
                  <a:srgbClr val="A0AEC0"/>
                </a:solidFill>
              </a:rPr>
              <a:t> auteur (nom + </a:t>
            </a:r>
            <a:r>
              <a:rPr lang="en-US" dirty="0" err="1">
                <a:solidFill>
                  <a:srgbClr val="A0AEC0"/>
                </a:solidFill>
              </a:rPr>
              <a:t>nationalité</a:t>
            </a:r>
            <a:r>
              <a:rPr lang="en-US" dirty="0">
                <a:solidFill>
                  <a:srgbClr val="A0AEC0"/>
                </a:solidFill>
              </a:rPr>
              <a:t>) </a:t>
            </a:r>
          </a:p>
          <a:p>
            <a:pPr marL="285750" lvl="0" indent="-285750">
              <a:buClr>
                <a:srgbClr val="A0AEC0"/>
              </a:buClr>
              <a:buSzPts val="1400"/>
              <a:buFontTx/>
              <a:buChar char="-"/>
            </a:pPr>
            <a:r>
              <a:rPr lang="en-US" dirty="0" err="1">
                <a:solidFill>
                  <a:srgbClr val="A0AEC0"/>
                </a:solidFill>
              </a:rPr>
              <a:t>GraphQL</a:t>
            </a:r>
            <a:r>
              <a:rPr lang="en-US" dirty="0">
                <a:solidFill>
                  <a:srgbClr val="A0AEC0"/>
                </a:solidFill>
              </a:rPr>
              <a:t> + </a:t>
            </a:r>
            <a:r>
              <a:rPr lang="en-US" dirty="0" err="1">
                <a:solidFill>
                  <a:srgbClr val="A0AEC0"/>
                </a:solidFill>
              </a:rPr>
              <a:t>DataLoader</a:t>
            </a:r>
            <a:r>
              <a:rPr lang="en-US" dirty="0">
                <a:solidFill>
                  <a:srgbClr val="A0AEC0"/>
                </a:solidFill>
              </a:rPr>
              <a:t> y </a:t>
            </a:r>
            <a:r>
              <a:rPr lang="en-US" dirty="0" err="1">
                <a:solidFill>
                  <a:srgbClr val="A0AEC0"/>
                </a:solidFill>
              </a:rPr>
              <a:t>répond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en</a:t>
            </a:r>
            <a:r>
              <a:rPr lang="en-US" dirty="0">
                <a:solidFill>
                  <a:srgbClr val="A0AEC0"/>
                </a:solidFill>
              </a:rPr>
              <a:t> 1 </a:t>
            </a:r>
            <a:r>
              <a:rPr lang="en-US" dirty="0" err="1">
                <a:solidFill>
                  <a:srgbClr val="A0AEC0"/>
                </a:solidFill>
              </a:rPr>
              <a:t>requête</a:t>
            </a:r>
            <a:r>
              <a:rPr lang="en-US" dirty="0">
                <a:solidFill>
                  <a:srgbClr val="A0AEC0"/>
                </a:solidFill>
              </a:rPr>
              <a:t> et 2 SQL</a:t>
            </a:r>
          </a:p>
          <a:p>
            <a:pPr marL="285750" lvl="0" indent="-285750">
              <a:buClr>
                <a:srgbClr val="A0AEC0"/>
              </a:buClr>
              <a:buSzPts val="1400"/>
              <a:buFontTx/>
              <a:buChar char="-"/>
            </a:pPr>
            <a:r>
              <a:rPr lang="en-US" dirty="0">
                <a:solidFill>
                  <a:srgbClr val="A0AEC0"/>
                </a:solidFill>
              </a:rPr>
              <a:t>REST </a:t>
            </a:r>
            <a:r>
              <a:rPr lang="en-US" dirty="0" err="1">
                <a:solidFill>
                  <a:srgbClr val="A0AEC0"/>
                </a:solidFill>
              </a:rPr>
              <a:t>en</a:t>
            </a:r>
            <a:r>
              <a:rPr lang="en-US" dirty="0">
                <a:solidFill>
                  <a:srgbClr val="A0AEC0"/>
                </a:solidFill>
              </a:rPr>
              <a:t> </a:t>
            </a:r>
            <a:r>
              <a:rPr lang="en-US" dirty="0" err="1">
                <a:solidFill>
                  <a:srgbClr val="A0AEC0"/>
                </a:solidFill>
              </a:rPr>
              <a:t>nécessite</a:t>
            </a:r>
            <a:r>
              <a:rPr lang="en-US" dirty="0">
                <a:solidFill>
                  <a:srgbClr val="A0AEC0"/>
                </a:solidFill>
              </a:rPr>
              <a:t> 3 HTTP et 4 SQL</a:t>
            </a:r>
          </a:p>
          <a:p>
            <a:pPr marL="285750" lvl="0" indent="-285750">
              <a:buClr>
                <a:srgbClr val="A0AEC0"/>
              </a:buClr>
              <a:buSzPts val="1400"/>
              <a:buFontTx/>
              <a:buChar char="-"/>
            </a:pPr>
            <a:r>
              <a:rPr lang="en-US" dirty="0">
                <a:solidFill>
                  <a:srgbClr val="A0AEC0"/>
                </a:solidFill>
              </a:rPr>
              <a:t>SOAP </a:t>
            </a:r>
            <a:r>
              <a:rPr lang="en-US" dirty="0" err="1">
                <a:solidFill>
                  <a:srgbClr val="A0AEC0"/>
                </a:solidFill>
              </a:rPr>
              <a:t>retourne</a:t>
            </a:r>
            <a:r>
              <a:rPr lang="en-US" dirty="0">
                <a:solidFill>
                  <a:srgbClr val="A0AEC0"/>
                </a:solidFill>
              </a:rPr>
              <a:t> un XML </a:t>
            </a:r>
            <a:r>
              <a:rPr lang="en-US" dirty="0" err="1">
                <a:solidFill>
                  <a:srgbClr val="A0AEC0"/>
                </a:solidFill>
              </a:rPr>
              <a:t>verbeux</a:t>
            </a:r>
            <a:r>
              <a:rPr lang="en-US" dirty="0">
                <a:solidFill>
                  <a:srgbClr val="A0AEC0"/>
                </a:solidFill>
              </a:rPr>
              <a:t> deux </a:t>
            </a:r>
            <a:r>
              <a:rPr lang="en-US" dirty="0" err="1">
                <a:solidFill>
                  <a:srgbClr val="A0AEC0"/>
                </a:solidFill>
              </a:rPr>
              <a:t>fois</a:t>
            </a:r>
            <a:r>
              <a:rPr lang="en-US" dirty="0">
                <a:solidFill>
                  <a:srgbClr val="A0AEC0"/>
                </a:solidFill>
              </a:rPr>
              <a:t> plus </a:t>
            </a:r>
            <a:r>
              <a:rPr lang="en-US" dirty="0" err="1">
                <a:solidFill>
                  <a:srgbClr val="A0AEC0"/>
                </a:solidFill>
              </a:rPr>
              <a:t>lourd</a:t>
            </a:r>
            <a:r>
              <a:rPr lang="en-US" dirty="0">
                <a:solidFill>
                  <a:srgbClr val="A0AEC0"/>
                </a:solidFill>
              </a:rPr>
              <a:t>.</a:t>
            </a:r>
            <a:endParaRPr sz="1400" b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45">
          <a:extLst>
            <a:ext uri="{FF2B5EF4-FFF2-40B4-BE49-F238E27FC236}">
              <a16:creationId xmlns:a16="http://schemas.microsoft.com/office/drawing/2014/main" id="{D267E5F7-5953-3168-8CBA-4AE69D06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">
            <a:extLst>
              <a:ext uri="{FF2B5EF4-FFF2-40B4-BE49-F238E27FC236}">
                <a16:creationId xmlns:a16="http://schemas.microsoft.com/office/drawing/2014/main" id="{7D97B31E-21FB-2DC2-959E-5803CAB58DCD}"/>
              </a:ext>
            </a:extLst>
          </p:cNvPr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2800"/>
            </a:pPr>
            <a:r>
              <a:rPr lang="en-US" sz="2800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Comparaisons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" name="Google Shape;448;p17">
            <a:extLst>
              <a:ext uri="{FF2B5EF4-FFF2-40B4-BE49-F238E27FC236}">
                <a16:creationId xmlns:a16="http://schemas.microsoft.com/office/drawing/2014/main" id="{BD36DA02-CEF0-5921-3656-324A266CD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2086002"/>
              </p:ext>
            </p:extLst>
          </p:nvPr>
        </p:nvGraphicFramePr>
        <p:xfrm>
          <a:off x="471271" y="1305951"/>
          <a:ext cx="8229600" cy="1661155"/>
        </p:xfrm>
        <a:graphic>
          <a:graphicData uri="http://schemas.openxmlformats.org/drawingml/2006/table">
            <a:tbl>
              <a:tblPr>
                <a:noFill/>
                <a:tableStyleId>{B338D3A2-6759-4C2F-B7EF-E4B06129EB26}</a:tableStyleId>
              </a:tblPr>
              <a:tblGrid>
                <a:gridCol w="185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59E0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59E0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SOAP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B82F6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3B82F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REST</a:t>
                      </a:r>
                      <a:endParaRPr sz="12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5AB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E535A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GraphQL</a:t>
                      </a:r>
                      <a:endParaRPr sz="12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Auth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WS-Security (message)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OAuth2 / JWT (transport)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OAuth2 / JWT (transport)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Surface </a:t>
                      </a:r>
                      <a:r>
                        <a:rPr lang="en-US" sz="1100" b="1" u="none" strike="noStrike" cap="none" dirty="0" err="1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d’attaque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WSDL expose le </a:t>
                      </a:r>
                      <a:r>
                        <a:rPr lang="en-US" sz="110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contrat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 endpoints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endpoint, introspection à </a:t>
                      </a:r>
                      <a:r>
                        <a:rPr lang="en-US" sz="1100" u="none" strike="noStrike" cap="none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désactiver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0AEC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Protection </a:t>
                      </a:r>
                      <a:r>
                        <a:rPr lang="en-US" sz="1100" b="1" u="none" strike="noStrike" cap="none" dirty="0" err="1">
                          <a:solidFill>
                            <a:srgbClr val="A0AE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spécifique</a:t>
                      </a:r>
                      <a:endParaRPr lang="en-US"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74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Rate limiting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Depth limiting, query complexity</a:t>
                      </a:r>
                      <a:endParaRPr sz="11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D374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390;g3cd517ccf59_0_23">
            <a:extLst>
              <a:ext uri="{FF2B5EF4-FFF2-40B4-BE49-F238E27FC236}">
                <a16:creationId xmlns:a16="http://schemas.microsoft.com/office/drawing/2014/main" id="{DB1125CE-0B74-3E57-7047-E82C3DD08660}"/>
              </a:ext>
            </a:extLst>
          </p:cNvPr>
          <p:cNvSpPr/>
          <p:nvPr/>
        </p:nvSpPr>
        <p:spPr>
          <a:xfrm>
            <a:off x="471268" y="3582573"/>
            <a:ext cx="3842825" cy="1188774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</a:rPr>
              <a:t>REST : polling ou SSE — pas natif</a:t>
            </a:r>
          </a:p>
          <a:p>
            <a:pPr marL="285750" lvl="0" indent="-285750">
              <a:buFontTx/>
              <a:buChar char="-"/>
            </a:pPr>
            <a:r>
              <a:rPr lang="fr-FR" sz="1200" dirty="0" err="1">
                <a:solidFill>
                  <a:schemeClr val="bg1"/>
                </a:solidFill>
              </a:rPr>
              <a:t>GraphQL</a:t>
            </a:r>
            <a:r>
              <a:rPr lang="fr-FR" sz="1200" dirty="0">
                <a:solidFill>
                  <a:schemeClr val="bg1"/>
                </a:solidFill>
              </a:rPr>
              <a:t> : </a:t>
            </a:r>
            <a:r>
              <a:rPr lang="fr-FR" sz="1200" dirty="0" err="1">
                <a:solidFill>
                  <a:schemeClr val="bg1"/>
                </a:solidFill>
              </a:rPr>
              <a:t>Subscriptions</a:t>
            </a:r>
            <a:r>
              <a:rPr lang="fr-FR" sz="1200" dirty="0">
                <a:solidFill>
                  <a:schemeClr val="bg1"/>
                </a:solidFill>
              </a:rPr>
              <a:t> via </a:t>
            </a:r>
            <a:r>
              <a:rPr lang="fr-FR" sz="1200" dirty="0" err="1">
                <a:solidFill>
                  <a:schemeClr val="bg1"/>
                </a:solidFill>
              </a:rPr>
              <a:t>WebSocket</a:t>
            </a:r>
            <a:endParaRPr lang="fr-FR" sz="1200" dirty="0">
              <a:solidFill>
                <a:schemeClr val="bg1"/>
              </a:solidFill>
            </a:endParaRPr>
          </a:p>
          <a:p>
            <a:pPr marL="285750" lvl="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</a:rPr>
              <a:t>SOAP : non concerné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3" name="Google Shape;390;g3cd517ccf59_0_23">
            <a:extLst>
              <a:ext uri="{FF2B5EF4-FFF2-40B4-BE49-F238E27FC236}">
                <a16:creationId xmlns:a16="http://schemas.microsoft.com/office/drawing/2014/main" id="{ABA34107-543A-4DB7-2853-BAC0E5A4C566}"/>
              </a:ext>
            </a:extLst>
          </p:cNvPr>
          <p:cNvSpPr/>
          <p:nvPr/>
        </p:nvSpPr>
        <p:spPr>
          <a:xfrm>
            <a:off x="4647029" y="3582573"/>
            <a:ext cx="4053842" cy="1188774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</a:rPr>
              <a:t>REST casse les clients : /v1/ → /v2/</a:t>
            </a:r>
          </a:p>
          <a:p>
            <a:pPr marL="285750" lvl="0" indent="-285750">
              <a:buFontTx/>
              <a:buChar char="-"/>
            </a:pPr>
            <a:r>
              <a:rPr lang="fr-FR" sz="1200" dirty="0" err="1">
                <a:solidFill>
                  <a:schemeClr val="bg1"/>
                </a:solidFill>
              </a:rPr>
              <a:t>GraphQL</a:t>
            </a:r>
            <a:r>
              <a:rPr lang="fr-FR" sz="1200" dirty="0">
                <a:solidFill>
                  <a:schemeClr val="bg1"/>
                </a:solidFill>
              </a:rPr>
              <a:t> déprécie les champs sans rupture</a:t>
            </a:r>
          </a:p>
          <a:p>
            <a:pPr marL="285750" lvl="0" indent="-285750">
              <a:buFontTx/>
              <a:buChar char="-"/>
            </a:pPr>
            <a:r>
              <a:rPr lang="fr-FR" sz="1200" dirty="0">
                <a:solidFill>
                  <a:schemeClr val="bg1"/>
                </a:solidFill>
              </a:rPr>
              <a:t>SOAP : le WSDL contraint les deux parties, tout changement est un contrat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7" name="Google Shape;185;p7">
            <a:extLst>
              <a:ext uri="{FF2B5EF4-FFF2-40B4-BE49-F238E27FC236}">
                <a16:creationId xmlns:a16="http://schemas.microsoft.com/office/drawing/2014/main" id="{BC13A077-36AE-CCE4-40E7-5C6A351281E4}"/>
              </a:ext>
            </a:extLst>
          </p:cNvPr>
          <p:cNvSpPr/>
          <p:nvPr/>
        </p:nvSpPr>
        <p:spPr>
          <a:xfrm>
            <a:off x="471271" y="979715"/>
            <a:ext cx="1080867" cy="320100"/>
          </a:xfrm>
          <a:prstGeom prst="rect">
            <a:avLst/>
          </a:prstGeom>
          <a:solidFill>
            <a:srgbClr val="712A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6;p7">
            <a:extLst>
              <a:ext uri="{FF2B5EF4-FFF2-40B4-BE49-F238E27FC236}">
                <a16:creationId xmlns:a16="http://schemas.microsoft.com/office/drawing/2014/main" id="{487D40B2-0816-34CD-3C43-16D83B2EBAE5}"/>
              </a:ext>
            </a:extLst>
          </p:cNvPr>
          <p:cNvSpPr/>
          <p:nvPr/>
        </p:nvSpPr>
        <p:spPr>
          <a:xfrm>
            <a:off x="654145" y="979720"/>
            <a:ext cx="897993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rgbClr val="FF6371"/>
                </a:solidFill>
                <a:latin typeface="Consolas"/>
                <a:ea typeface="Consolas"/>
                <a:cs typeface="Consolas"/>
                <a:sym typeface="Consolas"/>
              </a:rPr>
              <a:t>Sécurité</a:t>
            </a:r>
            <a:endParaRPr sz="1200" b="0" i="0" u="none" strike="noStrike" cap="none" dirty="0">
              <a:solidFill>
                <a:srgbClr val="FF63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446;p17">
            <a:extLst>
              <a:ext uri="{FF2B5EF4-FFF2-40B4-BE49-F238E27FC236}">
                <a16:creationId xmlns:a16="http://schemas.microsoft.com/office/drawing/2014/main" id="{0FC9DD96-4C7E-9D40-356D-16FE4D46DD70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185;p7">
            <a:extLst>
              <a:ext uri="{FF2B5EF4-FFF2-40B4-BE49-F238E27FC236}">
                <a16:creationId xmlns:a16="http://schemas.microsoft.com/office/drawing/2014/main" id="{CA411CAA-11E3-0CD3-9F2D-503EB66DAF08}"/>
              </a:ext>
            </a:extLst>
          </p:cNvPr>
          <p:cNvSpPr/>
          <p:nvPr/>
        </p:nvSpPr>
        <p:spPr>
          <a:xfrm>
            <a:off x="471268" y="3262468"/>
            <a:ext cx="1230923" cy="320100"/>
          </a:xfrm>
          <a:prstGeom prst="rect">
            <a:avLst/>
          </a:prstGeom>
          <a:solidFill>
            <a:srgbClr val="712A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86;p7">
            <a:extLst>
              <a:ext uri="{FF2B5EF4-FFF2-40B4-BE49-F238E27FC236}">
                <a16:creationId xmlns:a16="http://schemas.microsoft.com/office/drawing/2014/main" id="{DCF14BE9-E18A-235E-D022-E72F7AA1189D}"/>
              </a:ext>
            </a:extLst>
          </p:cNvPr>
          <p:cNvSpPr/>
          <p:nvPr/>
        </p:nvSpPr>
        <p:spPr>
          <a:xfrm>
            <a:off x="654142" y="3262473"/>
            <a:ext cx="897993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6371"/>
                </a:solidFill>
                <a:latin typeface="Consolas"/>
                <a:ea typeface="Consolas"/>
                <a:cs typeface="Consolas"/>
                <a:sym typeface="Consolas"/>
              </a:rPr>
              <a:t>Temps reel  </a:t>
            </a:r>
            <a:endParaRPr sz="1200" b="0" i="0" u="none" strike="noStrike" cap="none" dirty="0">
              <a:solidFill>
                <a:srgbClr val="FF63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185;p7">
            <a:extLst>
              <a:ext uri="{FF2B5EF4-FFF2-40B4-BE49-F238E27FC236}">
                <a16:creationId xmlns:a16="http://schemas.microsoft.com/office/drawing/2014/main" id="{BC1676DF-B328-BDAA-A629-7F7EB5B0A194}"/>
              </a:ext>
            </a:extLst>
          </p:cNvPr>
          <p:cNvSpPr/>
          <p:nvPr/>
        </p:nvSpPr>
        <p:spPr>
          <a:xfrm>
            <a:off x="4647029" y="3262463"/>
            <a:ext cx="1345808" cy="320100"/>
          </a:xfrm>
          <a:prstGeom prst="rect">
            <a:avLst/>
          </a:prstGeom>
          <a:solidFill>
            <a:srgbClr val="712A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186;p7">
            <a:extLst>
              <a:ext uri="{FF2B5EF4-FFF2-40B4-BE49-F238E27FC236}">
                <a16:creationId xmlns:a16="http://schemas.microsoft.com/office/drawing/2014/main" id="{DD57879D-AC66-714D-F704-38DE6F5017A4}"/>
              </a:ext>
            </a:extLst>
          </p:cNvPr>
          <p:cNvSpPr/>
          <p:nvPr/>
        </p:nvSpPr>
        <p:spPr>
          <a:xfrm>
            <a:off x="4829903" y="3262468"/>
            <a:ext cx="1116042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6371"/>
                </a:solidFill>
                <a:latin typeface="Consolas"/>
                <a:ea typeface="Consolas"/>
                <a:cs typeface="Consolas"/>
                <a:sym typeface="Consolas"/>
              </a:rPr>
              <a:t>Versioning</a:t>
            </a:r>
            <a:endParaRPr sz="1200" b="0" i="0" u="none" strike="noStrike" cap="none" dirty="0">
              <a:solidFill>
                <a:srgbClr val="FF637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1829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Quand </a:t>
            </a:r>
            <a:r>
              <a:rPr lang="en-US" sz="2800" b="0" i="0" u="none" strike="noStrike" cap="none" dirty="0" err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utiliser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 quoi ?</a:t>
            </a:r>
            <a:endParaRPr sz="2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500"/>
              <a:buFont typeface="Arial"/>
              <a:buNone/>
            </a:pPr>
            <a:r>
              <a:rPr lang="en-US" sz="1500" b="1" i="1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Il n'y a pas de gagnant universel.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731520" y="146304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731520" y="1463040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3" name="Google Shape;493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166420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9"/>
          <p:cNvSpPr/>
          <p:nvPr/>
        </p:nvSpPr>
        <p:spPr>
          <a:xfrm>
            <a:off x="1691640" y="1508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SOAP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3200400" y="150876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WS-Security (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banques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, santé)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Transactions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distribuées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Intégration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B2B (WSDL)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Écosystème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Java EE, .NET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731520" y="256032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731520" y="2560320"/>
            <a:ext cx="64008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8" name="Google Shape;498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5840" y="27614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9"/>
          <p:cNvSpPr/>
          <p:nvPr/>
        </p:nvSpPr>
        <p:spPr>
          <a:xfrm>
            <a:off x="1691640" y="2606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3B82F6"/>
                </a:solidFill>
                <a:latin typeface="Arial Black"/>
                <a:ea typeface="Arial Black"/>
                <a:cs typeface="Arial Black"/>
                <a:sym typeface="Arial Black"/>
              </a:rPr>
              <a:t>REST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200400" y="260604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CRUD,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bien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définies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Cache HTTP (CDN)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APIs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publiques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Simplicité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et adoption large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solidFill>
            <a:srgbClr val="16213E"/>
          </a:solidFill>
          <a:ln>
            <a:noFill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9"/>
          <p:cNvSpPr/>
          <p:nvPr/>
        </p:nvSpPr>
        <p:spPr>
          <a:xfrm>
            <a:off x="731520" y="3657600"/>
            <a:ext cx="64008" cy="960120"/>
          </a:xfrm>
          <a:prstGeom prst="rect">
            <a:avLst/>
          </a:prstGeom>
          <a:solidFill>
            <a:srgbClr val="E535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3" name="Google Shape;503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5840" y="385876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9"/>
          <p:cNvSpPr/>
          <p:nvPr/>
        </p:nvSpPr>
        <p:spPr>
          <a:xfrm>
            <a:off x="1691640" y="37033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535AB"/>
              </a:buClr>
              <a:buSzPts val="1800"/>
              <a:buFont typeface="Arial Black"/>
              <a:buNone/>
            </a:pPr>
            <a:r>
              <a:rPr lang="en-US" sz="1800" b="0" i="0" u="none" strike="noStrike" cap="none">
                <a:solidFill>
                  <a:srgbClr val="E535AB"/>
                </a:solidFill>
                <a:latin typeface="Arial Black"/>
                <a:ea typeface="Arial Black"/>
                <a:cs typeface="Arial Black"/>
                <a:sym typeface="Arial Black"/>
              </a:rPr>
              <a:t>GraphQL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3200400" y="3703320"/>
            <a:ext cx="50292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Clients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variés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(mobile, web, IoT)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fr-FR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Données interconnectées 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Itération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rapide</a:t>
            </a: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frontend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1625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1150"/>
              <a:buFont typeface="Arial"/>
              <a:buChar char="●"/>
            </a:pPr>
            <a:r>
              <a:rPr lang="en-US" sz="11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Projection fine des données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Black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Merci !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r>
              <a:rPr lang="en-US" sz="2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2400" b="1" i="0" u="none" strike="noStrike" cap="none">
                <a:solidFill>
                  <a:srgbClr val="E535AB"/>
                </a:solidFill>
                <a:latin typeface="Calibri"/>
                <a:ea typeface="Calibri"/>
                <a:cs typeface="Calibri"/>
                <a:sym typeface="Calibri"/>
              </a:rPr>
              <a:t>GraphQL</a:t>
            </a:r>
            <a:r>
              <a:rPr lang="en-US" sz="2000" b="0" i="0" u="none" strike="noStrike" cap="none">
                <a:solidFill>
                  <a:srgbClr val="A0AEC0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2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SOAP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1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2000"/>
              <a:buFont typeface="Arial"/>
              <a:buNone/>
            </a:pPr>
            <a:r>
              <a:rPr lang="en-US" sz="2000" b="0" i="1" u="none" strike="noStrike" cap="none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Questions 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Sources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731520" y="105156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20"/>
          <p:cNvSpPr/>
          <p:nvPr/>
        </p:nvSpPr>
        <p:spPr>
          <a:xfrm>
            <a:off x="822960" y="105156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1051560" y="10515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lvl="0">
              <a:lnSpc>
                <a:spcPct val="130000"/>
              </a:lnSpc>
              <a:buClr>
                <a:srgbClr val="A0AEC0"/>
              </a:buClr>
              <a:buSzPts val="950"/>
            </a:pPr>
            <a:r>
              <a:rPr lang="en-US" sz="950" dirty="0">
                <a:solidFill>
                  <a:srgbClr val="A0AEC0"/>
                </a:solidFill>
              </a:rPr>
              <a:t>How to Design APIs Like a Senior Engineer (REST, </a:t>
            </a:r>
            <a:r>
              <a:rPr lang="en-US" sz="950" dirty="0" err="1">
                <a:solidFill>
                  <a:srgbClr val="A0AEC0"/>
                </a:solidFill>
              </a:rPr>
              <a:t>GraphQL</a:t>
            </a:r>
            <a:r>
              <a:rPr lang="en-US" sz="950" dirty="0">
                <a:solidFill>
                  <a:srgbClr val="A0AEC0"/>
                </a:solidFill>
              </a:rPr>
              <a:t>, Auth, Security). https://</a:t>
            </a:r>
            <a:r>
              <a:rPr lang="en-US" sz="950" dirty="0" err="1">
                <a:solidFill>
                  <a:srgbClr val="A0AEC0"/>
                </a:solidFill>
              </a:rPr>
              <a:t>www.youtube.com</a:t>
            </a:r>
            <a:r>
              <a:rPr lang="en-US" sz="950" dirty="0">
                <a:solidFill>
                  <a:srgbClr val="A0AEC0"/>
                </a:solidFill>
              </a:rPr>
              <a:t>/</a:t>
            </a:r>
            <a:r>
              <a:rPr lang="en-US" sz="950" dirty="0" err="1">
                <a:solidFill>
                  <a:srgbClr val="A0AEC0"/>
                </a:solidFill>
              </a:rPr>
              <a:t>watch?v</a:t>
            </a:r>
            <a:r>
              <a:rPr lang="en-US" sz="950" dirty="0">
                <a:solidFill>
                  <a:srgbClr val="A0AEC0"/>
                </a:solidFill>
              </a:rPr>
              <a:t>=7iHl71nt49o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731520" y="201168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20"/>
          <p:cNvSpPr/>
          <p:nvPr/>
        </p:nvSpPr>
        <p:spPr>
          <a:xfrm>
            <a:off x="822960" y="20116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1051560" y="20116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fr-FR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Image </a:t>
            </a:r>
            <a:r>
              <a:rPr lang="fr-FR" sz="9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NewsFeed</a:t>
            </a:r>
            <a:r>
              <a:rPr lang="fr-FR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30000"/>
              </a:lnSpc>
              <a:buClr>
                <a:srgbClr val="A0AEC0"/>
              </a:buClr>
              <a:buSzPts val="950"/>
            </a:pPr>
            <a:r>
              <a:rPr lang="en-US" sz="950" dirty="0">
                <a:solidFill>
                  <a:srgbClr val="A0AEC0"/>
                </a:solidFill>
              </a:rPr>
              <a:t>https://</a:t>
            </a:r>
            <a:r>
              <a:rPr lang="en-US" sz="950" dirty="0" err="1">
                <a:solidFill>
                  <a:srgbClr val="A0AEC0"/>
                </a:solidFill>
              </a:rPr>
              <a:t>www.weforum.org</a:t>
            </a:r>
            <a:r>
              <a:rPr lang="en-US" sz="950" dirty="0">
                <a:solidFill>
                  <a:srgbClr val="A0AEC0"/>
                </a:solidFill>
              </a:rPr>
              <a:t>/stories/2016/09/facebooks-news-feed-is-10-years-old-this-is-how-the-site-has-changed/</a:t>
            </a:r>
          </a:p>
        </p:txBody>
      </p:sp>
      <p:sp>
        <p:nvSpPr>
          <p:cNvPr id="519" name="Google Shape;519;p20"/>
          <p:cNvSpPr/>
          <p:nvPr/>
        </p:nvSpPr>
        <p:spPr>
          <a:xfrm>
            <a:off x="731520" y="297180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0"/>
          <p:cNvSpPr/>
          <p:nvPr/>
        </p:nvSpPr>
        <p:spPr>
          <a:xfrm>
            <a:off x="822960" y="297180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1051560" y="29718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</a:t>
            </a:r>
            <a:r>
              <a:rPr lang="en-US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Foundation. </a:t>
            </a:r>
            <a:r>
              <a:rPr lang="en-US" sz="9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GraphQL</a:t>
            </a:r>
            <a:r>
              <a:rPr lang="en-US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Specification.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en-US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https://</a:t>
            </a:r>
            <a:r>
              <a:rPr lang="en-US" sz="9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spec.graphql.org</a:t>
            </a:r>
            <a:r>
              <a:rPr lang="en-US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731520" y="393192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0"/>
          <p:cNvSpPr/>
          <p:nvPr/>
        </p:nvSpPr>
        <p:spPr>
          <a:xfrm>
            <a:off x="822960" y="393192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1051560" y="393192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lvl="0">
              <a:lnSpc>
                <a:spcPct val="130000"/>
              </a:lnSpc>
              <a:buClr>
                <a:srgbClr val="A0AEC0"/>
              </a:buClr>
              <a:buSzPts val="950"/>
            </a:pPr>
            <a:r>
              <a:rPr lang="en-US" sz="950" dirty="0">
                <a:solidFill>
                  <a:srgbClr val="A0AEC0"/>
                </a:solidFill>
              </a:rPr>
              <a:t>What </a:t>
            </a:r>
            <a:r>
              <a:rPr lang="en-US" sz="950" dirty="0" err="1">
                <a:solidFill>
                  <a:srgbClr val="A0AEC0"/>
                </a:solidFill>
              </a:rPr>
              <a:t>Happend</a:t>
            </a:r>
            <a:r>
              <a:rPr lang="en-US" sz="950" dirty="0">
                <a:solidFill>
                  <a:srgbClr val="A0AEC0"/>
                </a:solidFill>
              </a:rPr>
              <a:t> To HATEOAS in RESTful API? | Pre HTMX. https://</a:t>
            </a:r>
            <a:r>
              <a:rPr lang="en-US" sz="950" dirty="0" err="1">
                <a:solidFill>
                  <a:srgbClr val="A0AEC0"/>
                </a:solidFill>
              </a:rPr>
              <a:t>www.youtube.com</a:t>
            </a:r>
            <a:r>
              <a:rPr lang="en-US" sz="950" dirty="0">
                <a:solidFill>
                  <a:srgbClr val="A0AEC0"/>
                </a:solidFill>
              </a:rPr>
              <a:t>/</a:t>
            </a:r>
            <a:r>
              <a:rPr lang="en-US" sz="950" dirty="0" err="1">
                <a:solidFill>
                  <a:srgbClr val="A0AEC0"/>
                </a:solidFill>
              </a:rPr>
              <a:t>watch?v</a:t>
            </a:r>
            <a:r>
              <a:rPr lang="en-US" sz="950" dirty="0">
                <a:solidFill>
                  <a:srgbClr val="A0AEC0"/>
                </a:solidFill>
              </a:rPr>
              <a:t>=</a:t>
            </a:r>
            <a:r>
              <a:rPr lang="en-US" sz="950" dirty="0" err="1">
                <a:solidFill>
                  <a:srgbClr val="A0AEC0"/>
                </a:solidFill>
              </a:rPr>
              <a:t>HNTSrytKCoQ</a:t>
            </a:r>
            <a:endParaRPr lang="en-US" sz="950" dirty="0">
              <a:solidFill>
                <a:srgbClr val="A0AEC0"/>
              </a:solidFill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4846320" y="105156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4937760" y="105156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5166360" y="105156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lvl="0">
              <a:lnSpc>
                <a:spcPct val="130000"/>
              </a:lnSpc>
              <a:buClr>
                <a:srgbClr val="A0AEC0"/>
              </a:buClr>
              <a:buSzPts val="950"/>
            </a:pPr>
            <a:r>
              <a:rPr lang="en-US" sz="950" dirty="0">
                <a:solidFill>
                  <a:srgbClr val="A0AEC0"/>
                </a:solidFill>
              </a:rPr>
              <a:t>Why there is no such thing as the Richardson Maturity Model. https://</a:t>
            </a:r>
            <a:r>
              <a:rPr lang="en-US" sz="950" dirty="0" err="1">
                <a:solidFill>
                  <a:srgbClr val="A0AEC0"/>
                </a:solidFill>
              </a:rPr>
              <a:t>dev.to</a:t>
            </a:r>
            <a:r>
              <a:rPr lang="en-US" sz="950" dirty="0">
                <a:solidFill>
                  <a:srgbClr val="A0AEC0"/>
                </a:solidFill>
              </a:rPr>
              <a:t>/</a:t>
            </a:r>
            <a:r>
              <a:rPr lang="en-US" sz="950" dirty="0" err="1">
                <a:solidFill>
                  <a:srgbClr val="A0AEC0"/>
                </a:solidFill>
              </a:rPr>
              <a:t>mikeralphson</a:t>
            </a:r>
            <a:r>
              <a:rPr lang="en-US" sz="950" dirty="0">
                <a:solidFill>
                  <a:srgbClr val="A0AEC0"/>
                </a:solidFill>
              </a:rPr>
              <a:t>/why-there-is-no-such-thing-as-the-richardson-maturity-model-3b4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4846320" y="201168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p20"/>
          <p:cNvSpPr/>
          <p:nvPr/>
        </p:nvSpPr>
        <p:spPr>
          <a:xfrm>
            <a:off x="4937760" y="201168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5166360" y="20116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lvl="0">
              <a:lnSpc>
                <a:spcPct val="130000"/>
              </a:lnSpc>
              <a:buClr>
                <a:srgbClr val="A0AEC0"/>
              </a:buClr>
              <a:buSzPts val="950"/>
            </a:pPr>
            <a:r>
              <a:rPr lang="en-US" sz="950" dirty="0">
                <a:solidFill>
                  <a:srgbClr val="A0AEC0"/>
                </a:solidFill>
              </a:rPr>
              <a:t>Solving the N+1 Problem with </a:t>
            </a:r>
            <a:r>
              <a:rPr lang="en-US" sz="950" dirty="0" err="1">
                <a:solidFill>
                  <a:srgbClr val="A0AEC0"/>
                </a:solidFill>
              </a:rPr>
              <a:t>DataLoader</a:t>
            </a:r>
            <a:r>
              <a:rPr lang="en-US" sz="950" dirty="0">
                <a:solidFill>
                  <a:srgbClr val="A0AEC0"/>
                </a:solidFill>
              </a:rPr>
              <a:t>. https://</a:t>
            </a:r>
            <a:r>
              <a:rPr lang="en-US" sz="950" dirty="0" err="1">
                <a:solidFill>
                  <a:srgbClr val="A0AEC0"/>
                </a:solidFill>
              </a:rPr>
              <a:t>www.graphql-js.org</a:t>
            </a:r>
            <a:r>
              <a:rPr lang="en-US" sz="950" dirty="0">
                <a:solidFill>
                  <a:srgbClr val="A0AEC0"/>
                </a:solidFill>
              </a:rPr>
              <a:t>/docs/n1-dataloader/</a:t>
            </a:r>
          </a:p>
        </p:txBody>
      </p:sp>
      <p:sp>
        <p:nvSpPr>
          <p:cNvPr id="531" name="Google Shape;531;p20"/>
          <p:cNvSpPr/>
          <p:nvPr/>
        </p:nvSpPr>
        <p:spPr>
          <a:xfrm>
            <a:off x="4846320" y="297180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4937760" y="297180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5166360" y="29718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lvl="0">
              <a:lnSpc>
                <a:spcPct val="130000"/>
              </a:lnSpc>
              <a:buClr>
                <a:srgbClr val="A0AEC0"/>
              </a:buClr>
              <a:buSzPts val="950"/>
            </a:pPr>
            <a:r>
              <a:rPr lang="en-US" sz="950" dirty="0">
                <a:solidFill>
                  <a:srgbClr val="A0AEC0"/>
                </a:solidFill>
              </a:rPr>
              <a:t>SOAP (+ la raison pour </a:t>
            </a:r>
            <a:r>
              <a:rPr lang="en-US" sz="950" dirty="0" err="1">
                <a:solidFill>
                  <a:srgbClr val="A0AEC0"/>
                </a:solidFill>
              </a:rPr>
              <a:t>laquelle</a:t>
            </a:r>
            <a:r>
              <a:rPr lang="en-US" sz="950" dirty="0">
                <a:solidFill>
                  <a:srgbClr val="A0AEC0"/>
                </a:solidFill>
              </a:rPr>
              <a:t> </a:t>
            </a:r>
            <a:r>
              <a:rPr lang="en-US" sz="950" dirty="0" err="1">
                <a:solidFill>
                  <a:srgbClr val="A0AEC0"/>
                </a:solidFill>
              </a:rPr>
              <a:t>l'API</a:t>
            </a:r>
            <a:r>
              <a:rPr lang="en-US" sz="950" dirty="0">
                <a:solidFill>
                  <a:srgbClr val="A0AEC0"/>
                </a:solidFill>
              </a:rPr>
              <a:t> REST est </a:t>
            </a:r>
            <a:r>
              <a:rPr lang="en-US" sz="950" dirty="0" err="1">
                <a:solidFill>
                  <a:srgbClr val="A0AEC0"/>
                </a:solidFill>
              </a:rPr>
              <a:t>largement</a:t>
            </a:r>
            <a:r>
              <a:rPr lang="en-US" sz="950" dirty="0">
                <a:solidFill>
                  <a:srgbClr val="A0AEC0"/>
                </a:solidFill>
              </a:rPr>
              <a:t> </a:t>
            </a:r>
            <a:r>
              <a:rPr lang="en-US" sz="950" dirty="0" err="1">
                <a:solidFill>
                  <a:srgbClr val="A0AEC0"/>
                </a:solidFill>
              </a:rPr>
              <a:t>utilisée</a:t>
            </a:r>
            <a:r>
              <a:rPr lang="en-US" sz="950" dirty="0">
                <a:solidFill>
                  <a:srgbClr val="A0AEC0"/>
                </a:solidFill>
              </a:rPr>
              <a:t>). https://</a:t>
            </a:r>
            <a:r>
              <a:rPr lang="en-US" sz="950" dirty="0" err="1">
                <a:solidFill>
                  <a:srgbClr val="A0AEC0"/>
                </a:solidFill>
              </a:rPr>
              <a:t>www.youtube.com</a:t>
            </a:r>
            <a:r>
              <a:rPr lang="en-US" sz="950" dirty="0">
                <a:solidFill>
                  <a:srgbClr val="A0AEC0"/>
                </a:solidFill>
              </a:rPr>
              <a:t>/</a:t>
            </a:r>
            <a:r>
              <a:rPr lang="en-US" sz="950" dirty="0" err="1">
                <a:solidFill>
                  <a:srgbClr val="A0AEC0"/>
                </a:solidFill>
              </a:rPr>
              <a:t>watch?v</a:t>
            </a:r>
            <a:r>
              <a:rPr lang="en-US" sz="950" dirty="0">
                <a:solidFill>
                  <a:srgbClr val="A0AEC0"/>
                </a:solidFill>
              </a:rPr>
              <a:t>=CVIBALqn_0E</a:t>
            </a:r>
          </a:p>
        </p:txBody>
      </p:sp>
      <p:sp>
        <p:nvSpPr>
          <p:cNvPr id="534" name="Google Shape;534;p20"/>
          <p:cNvSpPr/>
          <p:nvPr/>
        </p:nvSpPr>
        <p:spPr>
          <a:xfrm>
            <a:off x="4846320" y="3931920"/>
            <a:ext cx="3840480" cy="777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5" name="Google Shape;535;p20"/>
          <p:cNvSpPr/>
          <p:nvPr/>
        </p:nvSpPr>
        <p:spPr>
          <a:xfrm>
            <a:off x="4937760" y="3931920"/>
            <a:ext cx="274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456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E9456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5166360" y="393192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0AEC0"/>
              </a:buClr>
              <a:buSzPts val="950"/>
              <a:buFont typeface="Arial"/>
              <a:buNone/>
            </a:pPr>
            <a:r>
              <a:rPr lang="fr-FR" sz="950" b="0" i="0" u="none" strike="noStrike" cap="none" dirty="0" err="1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Wikipedia</a:t>
            </a:r>
            <a:r>
              <a:rPr lang="fr-FR" sz="950" b="0" i="0" u="none" strike="noStrike" cap="none" dirty="0">
                <a:solidFill>
                  <a:srgbClr val="A0AEC0"/>
                </a:solidFill>
                <a:latin typeface="Arial"/>
                <a:ea typeface="Arial"/>
                <a:cs typeface="Arial"/>
                <a:sym typeface="Arial"/>
              </a:rPr>
              <a:t> : RESTP, SOAP, HATEOAS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2879</Words>
  <Application>Microsoft Macintosh PowerPoint</Application>
  <PresentationFormat>Affichage à l'écran (16:9)</PresentationFormat>
  <Paragraphs>525</Paragraphs>
  <Slides>30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6" baseType="lpstr">
      <vt:lpstr>Calibri</vt:lpstr>
      <vt:lpstr>Menlo</vt:lpstr>
      <vt:lpstr>Arial Black</vt:lpstr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Alban &amp; Romain</dc:creator>
  <cp:lastModifiedBy>Alban TALAGRAND</cp:lastModifiedBy>
  <cp:revision>6</cp:revision>
  <dcterms:created xsi:type="dcterms:W3CDTF">2026-03-05T18:24:57Z</dcterms:created>
  <dcterms:modified xsi:type="dcterms:W3CDTF">2026-03-06T05:31:14Z</dcterms:modified>
</cp:coreProperties>
</file>