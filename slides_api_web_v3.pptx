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5143500" cy="9144000"/>
  <p:embeddedFontLs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HdDfBwlI2vY373uzYZe9rCGpB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38D3A2-6759-4C2F-B7EF-E4B06129EB26}">
  <a:tblStyle styleId="{B338D3A2-6759-4C2F-B7EF-E4B06129EB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5c87d4c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5c87d4c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5c87d4c6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5c986e60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95c986e60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5c986e606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d517ccf5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cd517ccf5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cd517ccf59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d517ccf59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cd517ccf59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cd517ccf59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d5e56ee05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cd5e56ee05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cd5e56ee05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chemas.xmlsoap.org/soap/http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APIs Web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b="0" i="0" lang="en-US" sz="2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b="1" i="0" lang="en-US" sz="3600" u="none" cap="none" strike="noStrik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b="0" i="0" lang="en-US" sz="28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b="1" i="0" lang="en-US" sz="3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Programmation comparée —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qu'une API 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Application Programming Interface — une interface pour échanger de la donnée entre programmes.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691640"/>
            <a:ext cx="3657600" cy="30175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41732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À quoi ça sert 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41401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14400" y="24140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34440" y="233172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pour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 pour récupérer et manipuler de la donnée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296265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14400" y="29626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4440" y="288036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Séparation logique métier / affichage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351129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14400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342900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Plusieurs clients différents  consomment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405993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14400" y="4059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397764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Contrat : quelles opérations </a:t>
            </a:r>
            <a:r>
              <a:rPr lang="en-US" sz="1050">
                <a:solidFill>
                  <a:srgbClr val="A0AEC0"/>
                </a:solidFill>
              </a:rPr>
              <a:t>? </a:t>
            </a: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quels formats ?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691640"/>
            <a:ext cx="3840600" cy="301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544068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Architecture 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20615" y="2423158"/>
            <a:ext cx="13716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120640" y="2423095"/>
            <a:ext cx="137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(Front-end)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2331720"/>
            <a:ext cx="1371600" cy="10972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040880" y="23317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(Serveur)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4088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Logique métier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Autorisation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Base de données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20640" y="3163830"/>
            <a:ext cx="10059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120603" y="316383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APIs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2"/>
          <p:cNvCxnSpPr/>
          <p:nvPr/>
        </p:nvCxnSpPr>
        <p:spPr>
          <a:xfrm flipH="1" rot="10800000">
            <a:off x="6302625" y="3260400"/>
            <a:ext cx="608100" cy="117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2"/>
          <p:cNvCxnSpPr/>
          <p:nvPr/>
        </p:nvCxnSpPr>
        <p:spPr>
          <a:xfrm>
            <a:off x="6610700" y="2741600"/>
            <a:ext cx="311700" cy="3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2"/>
          <p:cNvCxnSpPr/>
          <p:nvPr/>
        </p:nvCxnSpPr>
        <p:spPr>
          <a:xfrm flipH="1">
            <a:off x="6185550" y="3516925"/>
            <a:ext cx="1238100" cy="428400"/>
          </a:xfrm>
          <a:prstGeom prst="straightConnector1">
            <a:avLst/>
          </a:prstGeom>
          <a:noFill/>
          <a:ln cap="flat" cmpd="sng" w="28575">
            <a:solidFill>
              <a:srgbClr val="E945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2"/>
          <p:cNvCxnSpPr/>
          <p:nvPr/>
        </p:nvCxnSpPr>
        <p:spPr>
          <a:xfrm>
            <a:off x="7775350" y="3503463"/>
            <a:ext cx="0" cy="354000"/>
          </a:xfrm>
          <a:prstGeom prst="straightConnector1">
            <a:avLst/>
          </a:prstGeom>
          <a:noFill/>
          <a:ln cap="flat" cmpd="sng" w="28575">
            <a:solidFill>
              <a:srgbClr val="E9456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Trois approches, trois époques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même problème — exposer des données via le réseau — résolu de trois façons.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31520" y="164592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31520" y="164592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810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377440" y="1691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377440" y="20299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Simple Object Access 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5488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XML avec contrat formel (WSDL). Intégration entre systèmes hétérogènes en entreprise (Java ↔ .NET ↔ mainframes).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31520" y="2697480"/>
            <a:ext cx="64008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360" y="28620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2377440" y="2743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377440" y="30815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REpresentational State Transfer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0" y="27432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Style architectural basé sur HTTP. Ressources avec URIs, verbes HTTP sémantiques, réponses </a:t>
            </a: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cacheables</a:t>
            </a: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 Thèse de Roy Fielding.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31520" y="3749040"/>
            <a:ext cx="64008" cy="86868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7360" y="39136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2377440" y="3794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377440" y="41330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Graph Query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 de requête. Créé par Facebook pour alimenter le News Feed mobile en un seul appel.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Simple Object Access Protocol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concept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protocole d'échange de messages XML, indépendant du transport et du langage.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31520" y="155448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737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645920" y="16002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Tout passe par une enveloppe XML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645920" y="190195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message est une enveloppe standardisée : Header (sécurité, routing) + Body (opération + paramètres). Le format est identique quel que soit le transport (HTTP, SMTP, JMS).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1520" y="265176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645920" y="269748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Contrat formel : le WSDL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45920" y="29992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service est décrit dans un fichier WSDL : opérations disponibles, types de données (XML Schema), protocole de transport. Les clients sont générés automatiquement à partir du contrat.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31520" y="37490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645920" y="37947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Sécurité au niveau du message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645920" y="409651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: signature et chiffrement dans le message lui-même (pas juste TLS). Le message reste protégé même à travers des intermédiaires. Standard dans la banque et la santé.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L'enveloppe XML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3152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Enveloppe SOAP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97280" y="1645920"/>
            <a:ext cx="3108960" cy="914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188720" y="16642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Header (optionnel)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88720" y="193852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WS-Security, routing, transactions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2697480"/>
            <a:ext cx="3108960" cy="155448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188720" y="2715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88720" y="299008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Opération + paramètres typés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solidFill>
            <a:srgbClr val="4A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Fault (erreurs structurées)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Exemple : GetBook(1)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&lt;?xml version="1.0"?&gt;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&lt;soap:Envelope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xmlns:soap="...soap/envelope"&gt;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&lt;soap:Header&gt;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&lt;wsse:Security&gt;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&lt;!-- token, signature --&gt;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&lt;/wsse:Security&gt;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&lt;/soap:Header&gt;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&lt;GetBook xmlns="..."&gt;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&lt;id&gt;1&lt;/id&gt;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&lt;/GetBook&gt;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&lt;/soap:Envelope&gt;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c87d4c66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5c87d4c66_0_0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95c87d4c66_0_0"/>
          <p:cNvSpPr/>
          <p:nvPr/>
        </p:nvSpPr>
        <p:spPr>
          <a:xfrm>
            <a:off x="731520" y="100584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Web Services Description Language</a:t>
            </a:r>
            <a:r>
              <a:rPr b="0" i="1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—</a:t>
            </a:r>
            <a:r>
              <a:rPr b="0" i="1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le contrat machine-readable du service.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95c87d4c66_0_0"/>
          <p:cNvSpPr/>
          <p:nvPr/>
        </p:nvSpPr>
        <p:spPr>
          <a:xfrm>
            <a:off x="73152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5c87d4c66_0_0"/>
          <p:cNvSpPr/>
          <p:nvPr/>
        </p:nvSpPr>
        <p:spPr>
          <a:xfrm>
            <a:off x="731520" y="1554480"/>
            <a:ext cx="1828800" cy="549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5c87d4c66_0_0"/>
          <p:cNvSpPr/>
          <p:nvPr/>
        </p:nvSpPr>
        <p:spPr>
          <a:xfrm>
            <a:off x="73152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C2410C"/>
                </a:solidFill>
                <a:latin typeface="Arial Black"/>
                <a:ea typeface="Arial Black"/>
                <a:cs typeface="Arial Black"/>
                <a:sym typeface="Arial Black"/>
              </a:rPr>
              <a:t>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5c87d4c66_0_0"/>
          <p:cNvSpPr/>
          <p:nvPr/>
        </p:nvSpPr>
        <p:spPr>
          <a:xfrm>
            <a:off x="82296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Structures de données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(XML Schema).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Ex: Book { id, title, year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95c87d4c66_0_0"/>
          <p:cNvSpPr/>
          <p:nvPr/>
        </p:nvSpPr>
        <p:spPr>
          <a:xfrm>
            <a:off x="274320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5c87d4c66_0_0"/>
          <p:cNvSpPr/>
          <p:nvPr/>
        </p:nvSpPr>
        <p:spPr>
          <a:xfrm>
            <a:off x="2743200" y="1554480"/>
            <a:ext cx="1828800" cy="54900"/>
          </a:xfrm>
          <a:prstGeom prst="rect">
            <a:avLst/>
          </a:prstGeom>
          <a:solidFill>
            <a:srgbClr val="D474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5c87d4c66_0_0"/>
          <p:cNvSpPr/>
          <p:nvPr/>
        </p:nvSpPr>
        <p:spPr>
          <a:xfrm>
            <a:off x="274320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740C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D4740C"/>
                </a:solidFill>
                <a:latin typeface="Arial Black"/>
                <a:ea typeface="Arial Black"/>
                <a:cs typeface="Arial Black"/>
                <a:sym typeface="Arial Black"/>
              </a:rPr>
              <a:t>Messages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95c87d4c66_0_0"/>
          <p:cNvSpPr/>
          <p:nvPr/>
        </p:nvSpPr>
        <p:spPr>
          <a:xfrm>
            <a:off x="283464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Entrées/sorties 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opération.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GetBookRequest(id: int)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95c87d4c66_0_0"/>
          <p:cNvSpPr/>
          <p:nvPr/>
        </p:nvSpPr>
        <p:spPr>
          <a:xfrm>
            <a:off x="475488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5c87d4c66_0_0"/>
          <p:cNvSpPr/>
          <p:nvPr/>
        </p:nvSpPr>
        <p:spPr>
          <a:xfrm>
            <a:off x="4754880" y="1554480"/>
            <a:ext cx="1828800" cy="54900"/>
          </a:xfrm>
          <a:prstGeom prst="rect">
            <a:avLst/>
          </a:prstGeom>
          <a:solidFill>
            <a:srgbClr val="E5A2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5c87d4c66_0_0"/>
          <p:cNvSpPr/>
          <p:nvPr/>
        </p:nvSpPr>
        <p:spPr>
          <a:xfrm>
            <a:off x="475488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A20C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E5A20C"/>
                </a:solidFill>
                <a:latin typeface="Arial Black"/>
                <a:ea typeface="Arial Black"/>
                <a:cs typeface="Arial Black"/>
                <a:sym typeface="Arial Black"/>
              </a:rPr>
              <a:t>Port Types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95c87d4c66_0_0"/>
          <p:cNvSpPr/>
          <p:nvPr/>
        </p:nvSpPr>
        <p:spPr>
          <a:xfrm>
            <a:off x="484632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abstraite 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opérations dispo.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≈ interface Java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95c87d4c66_0_0"/>
          <p:cNvSpPr/>
          <p:nvPr/>
        </p:nvSpPr>
        <p:spPr>
          <a:xfrm>
            <a:off x="676656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5c87d4c66_0_0"/>
          <p:cNvSpPr/>
          <p:nvPr/>
        </p:nvSpPr>
        <p:spPr>
          <a:xfrm>
            <a:off x="6766560" y="1554480"/>
            <a:ext cx="1828800" cy="54900"/>
          </a:xfrm>
          <a:prstGeom prst="rect">
            <a:avLst/>
          </a:prstGeom>
          <a:solidFill>
            <a:srgbClr val="F5C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5c87d4c66_0_0"/>
          <p:cNvSpPr/>
          <p:nvPr/>
        </p:nvSpPr>
        <p:spPr>
          <a:xfrm>
            <a:off x="6766550" y="1673400"/>
            <a:ext cx="1874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0C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5C80C"/>
                </a:solidFill>
                <a:latin typeface="Arial Black"/>
                <a:ea typeface="Arial Black"/>
                <a:cs typeface="Arial Black"/>
                <a:sym typeface="Arial Black"/>
              </a:rPr>
              <a:t>Bindings &amp;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95c87d4c66_0_0"/>
          <p:cNvSpPr/>
          <p:nvPr/>
        </p:nvSpPr>
        <p:spPr>
          <a:xfrm>
            <a:off x="685800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concret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(SOAP/HTTP) + encodage.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Lie l'abstrait au transport.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95c87d4c66_0_0"/>
          <p:cNvSpPr/>
          <p:nvPr/>
        </p:nvSpPr>
        <p:spPr>
          <a:xfrm>
            <a:off x="731520" y="3657600"/>
            <a:ext cx="7680900" cy="109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95c87d4c66_0_0"/>
          <p:cNvSpPr/>
          <p:nvPr/>
        </p:nvSpPr>
        <p:spPr>
          <a:xfrm>
            <a:off x="731520" y="3657600"/>
            <a:ext cx="63900" cy="109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5c87d4c66_0_0"/>
          <p:cNvSpPr/>
          <p:nvPr/>
        </p:nvSpPr>
        <p:spPr>
          <a:xfrm>
            <a:off x="1005840" y="370332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Contract-first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95c87d4c66_0_0"/>
          <p:cNvSpPr/>
          <p:nvPr/>
        </p:nvSpPr>
        <p:spPr>
          <a:xfrm>
            <a:off x="1005840" y="4023360"/>
            <a:ext cx="7223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contrat (WSDL) existe avant le code. Un outil génère automatiquement les classes client dans n'importe quel langage. Le développeur appelle des méthodes typée</a:t>
            </a:r>
            <a:r>
              <a:rPr lang="en-US" sz="1150">
                <a:solidFill>
                  <a:srgbClr val="A0AEC0"/>
                </a:solidFill>
              </a:rPr>
              <a:t>s</a:t>
            </a: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 Deux organisations intègrent leurs systèmes juste en échangeant un WSDL.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63476" y="1391713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6350" y="139171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3475" y="1757488"/>
            <a:ext cx="44877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65975" y="1757488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&lt;xsd:complexType name="Author"&gt;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&lt;xsd:sequence&gt;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name="Id"  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name="Name"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name="Bio"  type="xsd:string"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name="Nationality"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&lt;/xsd:sequence&gt;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&lt;/xsd:complexType&gt;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2150" y="1391713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25025" y="1391705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2150" y="1757488"/>
            <a:ext cx="37104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44650" y="1757488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name="GetAuthorRequest"&gt;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name="AuthorId"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name="GetAuthorResponse"&gt;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name="Author"   type="tns:Author"/&gt;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5c986e606_0_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5c986e606_0_1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95c986e606_0_1"/>
          <p:cNvSpPr/>
          <p:nvPr/>
        </p:nvSpPr>
        <p:spPr>
          <a:xfrm>
            <a:off x="368800" y="1391733"/>
            <a:ext cx="36081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95c986e606_0_1"/>
          <p:cNvSpPr/>
          <p:nvPr/>
        </p:nvSpPr>
        <p:spPr>
          <a:xfrm>
            <a:off x="546640" y="1391725"/>
            <a:ext cx="337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5c986e606_0_1"/>
          <p:cNvSpPr/>
          <p:nvPr/>
        </p:nvSpPr>
        <p:spPr>
          <a:xfrm>
            <a:off x="368800" y="1757499"/>
            <a:ext cx="36081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5c986e606_0_1"/>
          <p:cNvSpPr/>
          <p:nvPr/>
        </p:nvSpPr>
        <p:spPr>
          <a:xfrm>
            <a:off x="468478" y="1757506"/>
            <a:ext cx="35172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&lt;portType name="BookCatalogPortType"&gt;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&lt;input message="tns:GetAuthorRequest"/&gt;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&lt;output message="tns:GetAuthorResponse"/&gt;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&lt;/portType&gt;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g395c986e606_0_1"/>
          <p:cNvSpPr/>
          <p:nvPr/>
        </p:nvSpPr>
        <p:spPr>
          <a:xfrm>
            <a:off x="4170125" y="1391733"/>
            <a:ext cx="48345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5c986e606_0_1"/>
          <p:cNvSpPr/>
          <p:nvPr/>
        </p:nvSpPr>
        <p:spPr>
          <a:xfrm>
            <a:off x="4408416" y="1391725"/>
            <a:ext cx="452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Bindings &amp;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95c986e606_0_1"/>
          <p:cNvSpPr/>
          <p:nvPr/>
        </p:nvSpPr>
        <p:spPr>
          <a:xfrm>
            <a:off x="4170125" y="1757499"/>
            <a:ext cx="48345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95c986e606_0_1"/>
          <p:cNvSpPr/>
          <p:nvPr/>
        </p:nvSpPr>
        <p:spPr>
          <a:xfrm>
            <a:off x="4164275" y="1757500"/>
            <a:ext cx="48462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&lt;binding name="BookCatalogBinding" type="tns:BookCatalogPortType"&gt;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&lt;soap:binding style="document"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transport="</a:t>
            </a:r>
            <a:r>
              <a:rPr lang="en-US" sz="1050">
                <a:solidFill>
                  <a:schemeClr val="lt1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http://schemas.xmlsoap.org/soap/http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    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&lt;soap:operation soapAction="GetAuthor"/&gt;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&lt;/binding&gt;	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&lt;service name="BookCatalogService"&gt;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&lt;port name="BookCatalogPort" binding="tns:BookCatalogBinding"&gt;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&lt;soap:address location="http://localhost:3000/soap"/&gt;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&lt;/port&gt;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&lt;/service&gt;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t/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Bilan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Quand l'utiliser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10515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Banque, santé, défense — WS-Security est un standard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10515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distribuées entre services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10515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 B2B formelle (échange de WSDL)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10515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 entreprise (Java EE, .NET, SAP)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Limites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51663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Verbosité XML — enveloppe &gt; donnée utile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51663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Complexité de la stack WS-*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1663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seul endpoint POST → pas de cache HTTP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51663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Mal adapté au web moderne et au mobile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Début 2000, SOAP est omniprésent. Mais le Web évolue, et un style plus simple émerge...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REpresentational State Transfer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Les principes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A0AEC0"/>
                </a:solidFill>
              </a:rPr>
              <a:t>U</a:t>
            </a:r>
            <a:r>
              <a:rPr b="0" i="0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 ensemble de principes d'architecture pour des APIs web qui s'intègrent naturellement à HTTP.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31520" y="173736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1645920" y="175564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Découpe par ressources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645920" y="20574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entité (users, books, posts) a sa propre URL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31520" y="274320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645920" y="276148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S'appuyer sur les normes HTTP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645920" y="30632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Verbes (GET, POST, PUT, DELETE) et codes de retour (2XX, 4XX, 5XX) ont une sémantique standard. Pas besoin de réinventer.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731520" y="374904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" y="3904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1645920" y="376732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Stateless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645920" y="406908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Pas de mémoire des anciennes requêtes. Chaque requête contient tout son contexte (token, paramètres). Permet le scaling horizontal.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Ressources, verbes, codes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Nomenclature des URLs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1371600"/>
            <a:ext cx="402336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40080" y="14630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Ressource unique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stephen-king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Sous-ressources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/api/v1/books/42/reviews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Verbes HTTP = CRUD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943600" y="1463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Restitution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9436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PUT/PATCH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943600" y="25603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Codes HTTP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2XX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058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Succès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058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200 OK · 201 Created · 204 No Content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2004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4XX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7490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7490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400 Bad Request · 401 Unauthorized · 404 Not Found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9436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5XX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922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serveur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922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500 Internal Error · 503 Service Unavailable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HATEOAS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HATEOAS — le niveau ultime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7200" y="1371600"/>
            <a:ext cx="402336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40080" y="141732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"id": 42,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"title": "Foundation",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"_links":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"self":    "/books/42",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"author":  "/authors/1",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"reviews": "/books/42/reviews"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57200" y="3474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réponses contiennent des liens vers les actions possibles.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Très peu utilisé en pratique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8397" y="914400"/>
            <a:ext cx="2585100" cy="640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311355" y="91439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HATEOAS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488397" y="1737359"/>
            <a:ext cx="25851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311355" y="173735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Verbes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88397" y="2560317"/>
            <a:ext cx="2585100" cy="6402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311355" y="256031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488397" y="3383276"/>
            <a:ext cx="2585100" cy="6402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11355" y="338327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RPC sur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665425" y="4088683"/>
            <a:ext cx="402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1" lang="en-US" sz="1550">
                <a:solidFill>
                  <a:srgbClr val="A0AEC0"/>
                </a:solidFill>
              </a:rPr>
              <a:t>Richardson Maturity Model</a:t>
            </a:r>
            <a:endParaRPr b="1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517ccf59_0_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cd517ccf59_0_5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imites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d517ccf59_0_5"/>
          <p:cNvSpPr/>
          <p:nvPr/>
        </p:nvSpPr>
        <p:spPr>
          <a:xfrm>
            <a:off x="2606105" y="1063040"/>
            <a:ext cx="3931800" cy="3201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d517ccf59_0_5"/>
          <p:cNvSpPr/>
          <p:nvPr/>
        </p:nvSpPr>
        <p:spPr>
          <a:xfrm>
            <a:off x="2788985" y="10630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Le problème : over/under-fetching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d517ccf59_0_5"/>
          <p:cNvSpPr/>
          <p:nvPr/>
        </p:nvSpPr>
        <p:spPr>
          <a:xfrm>
            <a:off x="2606105" y="1428800"/>
            <a:ext cx="393180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d517ccf59_0_5"/>
          <p:cNvSpPr/>
          <p:nvPr/>
        </p:nvSpPr>
        <p:spPr>
          <a:xfrm>
            <a:off x="2788985" y="1474520"/>
            <a:ext cx="3566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Pour 1 page "fiche livre"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reçoit isbn, pages... (inutile)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/authors/1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2e requête pour l'auteur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/books/42/reviews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3e requête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3 requêtes, données en trop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cd517ccf59_0_5"/>
          <p:cNvSpPr/>
          <p:nvPr/>
        </p:nvSpPr>
        <p:spPr>
          <a:xfrm>
            <a:off x="2606105" y="3349040"/>
            <a:ext cx="3931800" cy="7314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cd517ccf59_0_5"/>
          <p:cNvSpPr/>
          <p:nvPr/>
        </p:nvSpPr>
        <p:spPr>
          <a:xfrm>
            <a:off x="2788985" y="339476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Under-fetching</a:t>
            </a: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N requêtes pour 1 vue</a:t>
            </a:r>
            <a:b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Over-fetching</a:t>
            </a:r>
            <a:r>
              <a:rPr b="0" i="0" lang="en-US" sz="11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chaque réponse a des champs inutiles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d517ccf59_0_5"/>
          <p:cNvSpPr/>
          <p:nvPr/>
        </p:nvSpPr>
        <p:spPr>
          <a:xfrm>
            <a:off x="457200" y="44348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E535AB"/>
                </a:solidFill>
                <a:latin typeface="Arial"/>
                <a:ea typeface="Arial"/>
                <a:cs typeface="Arial"/>
                <a:sym typeface="Arial"/>
              </a:rPr>
              <a:t>C'est ce problème qui a poussé Facebook à créer GraphQL en 2012.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13E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4400"/>
              <a:buFont typeface="Arial Black"/>
              <a:buNone/>
            </a:pPr>
            <a:r>
              <a:rPr b="0" i="0" lang="en-US" sz="4400" u="none" cap="none" strike="noStrik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 Query Language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La problématique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79265" y="1803455"/>
            <a:ext cx="37491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579265" y="1803455"/>
            <a:ext cx="37491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45" y="194061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/>
          <p:nvPr/>
        </p:nvSpPr>
        <p:spPr>
          <a:xfrm>
            <a:off x="1219345" y="1940615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problème résolu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62145" y="2352095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Facebook 2012 : le News Feed charge des utilisateurs, posts, commentaires, likes, photos</a:t>
            </a:r>
            <a:endParaRPr sz="1000">
              <a:solidFill>
                <a:srgbClr val="A0AEC0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A0AEC0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Avec GraphQL : 1 requête, 1 réponse</a:t>
            </a:r>
            <a:r>
              <a:rPr lang="en-US" sz="1000">
                <a:solidFill>
                  <a:srgbClr val="A0AEC0"/>
                </a:solidFill>
              </a:rPr>
              <a:t>. L</a:t>
            </a: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 serveur agrège les ressources et renvoie une réponse structurée.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client mobile ne gère plus la complexité.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640" y="1472438"/>
            <a:ext cx="4358584" cy="2948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d517ccf59_0_2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d517ccf59_0_2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 concept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cd517ccf59_0_23"/>
          <p:cNvSpPr/>
          <p:nvPr/>
        </p:nvSpPr>
        <p:spPr>
          <a:xfrm>
            <a:off x="731520" y="100584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langage de requête pour la restitution des données. Le client envoie une requête qui définit exactement les données retournées.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d517ccf59_0_23"/>
          <p:cNvSpPr/>
          <p:nvPr/>
        </p:nvSpPr>
        <p:spPr>
          <a:xfrm>
            <a:off x="731520" y="1691640"/>
            <a:ext cx="7680900" cy="54870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cd517ccf59_0_2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Logique différente de REST : on ne découpe pas par ressources, on définit un modèle de données et des resolvers qui savent aller chercher chaque champ.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cd517ccf59_0_23"/>
          <p:cNvSpPr/>
          <p:nvPr/>
        </p:nvSpPr>
        <p:spPr>
          <a:xfrm>
            <a:off x="1549175" y="2353850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d517ccf59_0_23"/>
          <p:cNvSpPr/>
          <p:nvPr/>
        </p:nvSpPr>
        <p:spPr>
          <a:xfrm>
            <a:off x="1549170" y="2428368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d517ccf59_0_23"/>
          <p:cNvSpPr/>
          <p:nvPr/>
        </p:nvSpPr>
        <p:spPr>
          <a:xfrm>
            <a:off x="1627787" y="2545853"/>
            <a:ext cx="259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Comment ça marche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d517ccf59_0_23"/>
          <p:cNvSpPr/>
          <p:nvPr/>
        </p:nvSpPr>
        <p:spPr>
          <a:xfrm>
            <a:off x="1627775" y="2928550"/>
            <a:ext cx="5757900" cy="20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Définition d'un modèle de données typé (schéma)</a:t>
            </a:r>
            <a:endParaRPr b="0" i="0" sz="1200" u="none" cap="none" strike="noStrike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0AEC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Pour chaque type, un Resolver définit comment  récupérer la donnée : SQL, API externe, cache…</a:t>
            </a:r>
            <a:endParaRPr sz="1200">
              <a:solidFill>
                <a:srgbClr val="A0AEC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0AEC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Un seul endpoint (POST /graphql), le client précise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A0AEC0"/>
                </a:solidFill>
              </a:rPr>
              <a:t>dans sa requête le format et le type de donnée,     le serveur la résout champ par champ</a:t>
            </a:r>
            <a:endParaRPr sz="1200">
              <a:solidFill>
                <a:srgbClr val="A0AEC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0AEC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Introspection : le client peut interroger le schéma</a:t>
            </a:r>
            <a:endParaRPr sz="1200">
              <a:solidFill>
                <a:srgbClr val="A0AEC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t/>
            </a:r>
            <a:endParaRPr sz="120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Schéma et resolvers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schéma (SDL)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640080" y="146304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Book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id: ID!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title: String!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year: Int!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Author!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[Review!]!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Query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ID!): Book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books(limit: Int): [Book!]!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La requête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4846320" y="146304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query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"42")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{ name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{ rating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663440" y="292608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resolver (côté serveur)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663450" y="3291850"/>
            <a:ext cx="402330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4846320" y="33375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Chaque champ a un resolver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Book: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(book) =&gt;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db.get("SELECT * FROM authors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id = ?", book.author_id),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(book) =&gt;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db.all("SELECT * FROM reviews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book_id = ?", book.id)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 requête HTTP → exactement les données demandées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Le problème N+1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resolver est indépendant — chacun fait sa propre requête SQL.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Sans DataLoader (naïf)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1783080"/>
            <a:ext cx="393192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640080" y="187452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books(limit:5) { author { name }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books LIMIT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1 + N requêtes 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Avec DataLoader (batch)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754875" y="1783075"/>
            <a:ext cx="3931800" cy="24297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937760" y="187452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loader = new DataLoader(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async (ids) =&gt;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const rows = db.all(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`SELECT * FROM authors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WHERE id IN (${ids})`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ids.map(id =&gt;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rows.find(a =&gt; a.id === id)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2 requêtes SQL seulement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d5e56ee05_0_6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d5e56ee05_0_6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Inconvénients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cd5e56ee05_0_63"/>
          <p:cNvSpPr/>
          <p:nvPr/>
        </p:nvSpPr>
        <p:spPr>
          <a:xfrm>
            <a:off x="1549200" y="1510475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cd5e56ee05_0_63"/>
          <p:cNvSpPr/>
          <p:nvPr/>
        </p:nvSpPr>
        <p:spPr>
          <a:xfrm>
            <a:off x="1549195" y="1584993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cd5e56ee05_0_63"/>
          <p:cNvSpPr/>
          <p:nvPr/>
        </p:nvSpPr>
        <p:spPr>
          <a:xfrm>
            <a:off x="1549200" y="1763850"/>
            <a:ext cx="57579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 Pas de cache HTTP natif (tout POST)</a:t>
            </a:r>
            <a:endParaRPr sz="1100">
              <a:solidFill>
                <a:srgbClr val="A0AEC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 Attaques par query complexity</a:t>
            </a:r>
            <a:endParaRPr sz="1100">
              <a:solidFill>
                <a:srgbClr val="A0AEC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Pas de support natif du streaming</a:t>
            </a:r>
            <a:endParaRPr sz="1100">
              <a:solidFill>
                <a:srgbClr val="A0AEC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Plus difficile à monitorer et logger que REST (pas d'URLs standardisées)</a:t>
            </a:r>
            <a:endParaRPr sz="1100">
              <a:solidFill>
                <a:srgbClr val="A0AEC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Upload de fichiers hors spec</a:t>
            </a:r>
            <a:endParaRPr sz="1100">
              <a:solidFill>
                <a:srgbClr val="A0AEC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>
                <a:solidFill>
                  <a:srgbClr val="A0AEC0"/>
                </a:solidFill>
              </a:rPr>
              <a:t>Trop complexe pour des cas simpels</a:t>
            </a:r>
            <a:endParaRPr sz="1100">
              <a:solidFill>
                <a:srgbClr val="A0AEC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Comparaison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17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{B338D3A2-6759-4C2F-B7EF-E4B06129EB26}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SOAP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B82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5AB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535A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GraphQL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46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Nature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Style architectural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Langage de requête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Format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XML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(ou autre)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Contrat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WSDL (formel)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OpenAPI (optionnel)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SDL (intrinsèque)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Endpoints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(POST)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(par ressource)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(POST /graphql)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Cache HTTP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Difficile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Natif (GET)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Impossible*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Req / vue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par opération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(under-fetching)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(client choisit)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Piège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Verbosité XML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Over-fetching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N+1 SQL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17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* Sauf avec persisted queries ou GET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Démonstration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7" name="Google Shape;4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1828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8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 catalogue de livres, 3 approches, 1 seul serveur.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5720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457200" y="1554480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1161288" y="17830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16128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54864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livre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54864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Comparer XML SOAP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JSON 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JSON GraphQL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260604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2606040" y="1554480"/>
            <a:ext cx="1965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3310128" y="17830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331012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69748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Données liées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269748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REST : 3 requêtes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 : 1 requête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pour les mêmes données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475488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5458968" y="1783080"/>
            <a:ext cx="502920" cy="502920"/>
          </a:xfrm>
          <a:prstGeom prst="ellipse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545896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84632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 + 1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84632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Logs SQL : naïf (6)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vs DataLoader (2)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 temps réel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6903720" y="1554480"/>
            <a:ext cx="196596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6903720" y="1554480"/>
            <a:ext cx="196596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7607808" y="1783080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7607808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995160" y="23774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699516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Tout côte à côte 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 HTTP, req SQL,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taille payloads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Quand utiliser quoi 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Il n'y a pas de gagnant universel.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731520" y="146304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6642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9"/>
          <p:cNvSpPr/>
          <p:nvPr/>
        </p:nvSpPr>
        <p:spPr>
          <a:xfrm>
            <a:off x="1691640" y="1508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3200400" y="150876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(banques, santé)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distribuées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 B2B (WSDL)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 Java EE, .NET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731520" y="256032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31520" y="2560320"/>
            <a:ext cx="6400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8" name="Google Shape;4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7614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9"/>
          <p:cNvSpPr/>
          <p:nvPr/>
        </p:nvSpPr>
        <p:spPr>
          <a:xfrm>
            <a:off x="169164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200400" y="26060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CRUD, ressources bien définies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Cache HTTP (CDN)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APIs publiques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Simplicité et adoption large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731520" y="3657600"/>
            <a:ext cx="64008" cy="96012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" y="38587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9"/>
          <p:cNvSpPr/>
          <p:nvPr/>
        </p:nvSpPr>
        <p:spPr>
          <a:xfrm>
            <a:off x="169164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200400" y="370332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Clients variés (mobile, web, IoT)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Graphe de données complexe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Itération rapide 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b="0" i="0" lang="en-US" sz="11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Projection fine des données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7315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8229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0515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Fielding (2000). Architectural Styles and the Design 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Network-Based Software Architectures. UC Irvine.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7315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8229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0515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W3C. SOAP 1.2 Specification.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https://www.w3.org/TR/soap12/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7315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8229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0515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 Foundation. GraphQL Specification.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https://spec.graphql.org/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7315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8229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0515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Fowler (2010). Richardson Maturity Model.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https://martinfowler.com/articles/richardsonMaturityModel.html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48463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49377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51663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Byron (2015). GraphQL: A data query language.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https://engineering.fb.com/core-infra/graphql-a-data-query-language/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8463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9377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1663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W3C. WSDL 2.0 Specification.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https://www.w3.org/TR/wsdl20/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8463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49377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51663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Two-Bit History (2020). Fielding's Misappropriated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REST Dissertation. twobithistory.org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48463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49377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51663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160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 Foundation. DataLoader.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https://github.com/graphql/dataloader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Merci 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b="0" i="0" lang="en-US" sz="2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2400" u="none" cap="none" strike="noStrik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b="0" i="0" lang="en-US" sz="2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Questions 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2026-03-05T18:24:57Z</dcterms:created>
  <dc:creator>Alban &amp; Romain</dc:creator>
</cp:coreProperties>
</file>